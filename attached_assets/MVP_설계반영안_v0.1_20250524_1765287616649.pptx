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331" r:id="rId2"/>
    <p:sldId id="332" r:id="rId3"/>
    <p:sldId id="348" r:id="rId4"/>
    <p:sldId id="333" r:id="rId5"/>
    <p:sldId id="334" r:id="rId6"/>
    <p:sldId id="335" r:id="rId7"/>
    <p:sldId id="349" r:id="rId8"/>
    <p:sldId id="336" r:id="rId9"/>
  </p:sldIdLst>
  <p:sldSz cx="9906000" cy="6858000" type="A4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6">
          <p15:clr>
            <a:srgbClr val="A4A3A4"/>
          </p15:clr>
        </p15:guide>
        <p15:guide id="2" orient="horz" pos="3974">
          <p15:clr>
            <a:srgbClr val="A4A3A4"/>
          </p15:clr>
        </p15:guide>
        <p15:guide id="3" pos="312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3" roundtripDataSignature="AMtx7mjqlxuWsBMedJxeF473t88mpn7T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DC6BCF-486F-47D3-B478-F70685DA3715}">
  <a:tblStyle styleId="{6EDC6BCF-486F-47D3-B478-F70685DA3715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6E8E6"/>
          </a:solidFill>
        </a:fill>
      </a:tcStyle>
    </a:wholeTbl>
    <a:band1H>
      <a:tcTxStyle/>
      <a:tcStyle>
        <a:tcBdr/>
        <a:fill>
          <a:solidFill>
            <a:srgbClr val="EECE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ECE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54E1594-70B5-4F4E-8392-7861527D2E3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860" y="306"/>
      </p:cViewPr>
      <p:guideLst>
        <p:guide orient="horz" pos="2886"/>
        <p:guide orient="horz" pos="3974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84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83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87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2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2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2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2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2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2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2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2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2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2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2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2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2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2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2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2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81075" y="1241425"/>
            <a:ext cx="48355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83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83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83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83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83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8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8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8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8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2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2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2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2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2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2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2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2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5">
          <a:extLst>
            <a:ext uri="{FF2B5EF4-FFF2-40B4-BE49-F238E27FC236}">
              <a16:creationId xmlns:a16="http://schemas.microsoft.com/office/drawing/2014/main" id="{B1768C89-2646-BE9A-457B-4D70C4093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66:notes">
            <a:extLst>
              <a:ext uri="{FF2B5EF4-FFF2-40B4-BE49-F238E27FC236}">
                <a16:creationId xmlns:a16="http://schemas.microsoft.com/office/drawing/2014/main" id="{2F0CDBE9-ADFE-2A3A-F430-55230C0459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7" name="Google Shape;1837;p66:notes">
            <a:extLst>
              <a:ext uri="{FF2B5EF4-FFF2-40B4-BE49-F238E27FC236}">
                <a16:creationId xmlns:a16="http://schemas.microsoft.com/office/drawing/2014/main" id="{607F5E3F-6E57-572C-0858-46C5B8EC84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7910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5">
          <a:extLst>
            <a:ext uri="{FF2B5EF4-FFF2-40B4-BE49-F238E27FC236}">
              <a16:creationId xmlns:a16="http://schemas.microsoft.com/office/drawing/2014/main" id="{BC6197E2-9CDD-D1D3-3292-9C4ADA692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66:notes">
            <a:extLst>
              <a:ext uri="{FF2B5EF4-FFF2-40B4-BE49-F238E27FC236}">
                <a16:creationId xmlns:a16="http://schemas.microsoft.com/office/drawing/2014/main" id="{3B5574D7-C662-E909-31BD-0D170E7A5A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7" name="Google Shape;1837;p66:notes">
            <a:extLst>
              <a:ext uri="{FF2B5EF4-FFF2-40B4-BE49-F238E27FC236}">
                <a16:creationId xmlns:a16="http://schemas.microsoft.com/office/drawing/2014/main" id="{BDF95DBB-27C0-5F37-1B30-BC81A43C98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4585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5">
          <a:extLst>
            <a:ext uri="{FF2B5EF4-FFF2-40B4-BE49-F238E27FC236}">
              <a16:creationId xmlns:a16="http://schemas.microsoft.com/office/drawing/2014/main" id="{E7317D16-0F60-E383-9CA7-C91985C93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66:notes">
            <a:extLst>
              <a:ext uri="{FF2B5EF4-FFF2-40B4-BE49-F238E27FC236}">
                <a16:creationId xmlns:a16="http://schemas.microsoft.com/office/drawing/2014/main" id="{9EA39EAC-BDB8-B4E1-26DC-3F5B23AA33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7" name="Google Shape;1837;p66:notes">
            <a:extLst>
              <a:ext uri="{FF2B5EF4-FFF2-40B4-BE49-F238E27FC236}">
                <a16:creationId xmlns:a16="http://schemas.microsoft.com/office/drawing/2014/main" id="{2040D82F-A10F-3815-1F43-7A32DE7ADE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5289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5">
          <a:extLst>
            <a:ext uri="{FF2B5EF4-FFF2-40B4-BE49-F238E27FC236}">
              <a16:creationId xmlns:a16="http://schemas.microsoft.com/office/drawing/2014/main" id="{25013D07-A5F5-8774-D739-E74C8146D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66:notes">
            <a:extLst>
              <a:ext uri="{FF2B5EF4-FFF2-40B4-BE49-F238E27FC236}">
                <a16:creationId xmlns:a16="http://schemas.microsoft.com/office/drawing/2014/main" id="{2A3B1C79-5859-067B-CCB3-D0A996FA08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7" name="Google Shape;1837;p66:notes">
            <a:extLst>
              <a:ext uri="{FF2B5EF4-FFF2-40B4-BE49-F238E27FC236}">
                <a16:creationId xmlns:a16="http://schemas.microsoft.com/office/drawing/2014/main" id="{5E524F39-F43B-44A2-E7E9-3F96EB287E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7528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5">
          <a:extLst>
            <a:ext uri="{FF2B5EF4-FFF2-40B4-BE49-F238E27FC236}">
              <a16:creationId xmlns:a16="http://schemas.microsoft.com/office/drawing/2014/main" id="{E6E5A7E6-A803-7385-F38B-24621DFF2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66:notes">
            <a:extLst>
              <a:ext uri="{FF2B5EF4-FFF2-40B4-BE49-F238E27FC236}">
                <a16:creationId xmlns:a16="http://schemas.microsoft.com/office/drawing/2014/main" id="{FCA63D5C-0894-420C-4105-D9B11E22F0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7" name="Google Shape;1837;p66:notes">
            <a:extLst>
              <a:ext uri="{FF2B5EF4-FFF2-40B4-BE49-F238E27FC236}">
                <a16:creationId xmlns:a16="http://schemas.microsoft.com/office/drawing/2014/main" id="{35AA64CD-A02F-CEE6-80F3-D4C8E011A8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0798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5">
          <a:extLst>
            <a:ext uri="{FF2B5EF4-FFF2-40B4-BE49-F238E27FC236}">
              <a16:creationId xmlns:a16="http://schemas.microsoft.com/office/drawing/2014/main" id="{4FD1560B-FF7B-34E5-90D0-0FF945D81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66:notes">
            <a:extLst>
              <a:ext uri="{FF2B5EF4-FFF2-40B4-BE49-F238E27FC236}">
                <a16:creationId xmlns:a16="http://schemas.microsoft.com/office/drawing/2014/main" id="{E04CC507-33DD-B302-29A9-8FCD6BF1C0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7" name="Google Shape;1837;p66:notes">
            <a:extLst>
              <a:ext uri="{FF2B5EF4-FFF2-40B4-BE49-F238E27FC236}">
                <a16:creationId xmlns:a16="http://schemas.microsoft.com/office/drawing/2014/main" id="{C7669303-3817-28C1-DB4B-BB9FE0A453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53963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5">
          <a:extLst>
            <a:ext uri="{FF2B5EF4-FFF2-40B4-BE49-F238E27FC236}">
              <a16:creationId xmlns:a16="http://schemas.microsoft.com/office/drawing/2014/main" id="{D180DE40-9F91-F838-A0B2-A4F85560E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66:notes">
            <a:extLst>
              <a:ext uri="{FF2B5EF4-FFF2-40B4-BE49-F238E27FC236}">
                <a16:creationId xmlns:a16="http://schemas.microsoft.com/office/drawing/2014/main" id="{F1230EE6-C99B-48A0-5AE9-06839D937C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7" name="Google Shape;1837;p66:notes">
            <a:extLst>
              <a:ext uri="{FF2B5EF4-FFF2-40B4-BE49-F238E27FC236}">
                <a16:creationId xmlns:a16="http://schemas.microsoft.com/office/drawing/2014/main" id="{B518158F-2EFE-B560-8517-6E49D3BB38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22561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5">
          <a:extLst>
            <a:ext uri="{FF2B5EF4-FFF2-40B4-BE49-F238E27FC236}">
              <a16:creationId xmlns:a16="http://schemas.microsoft.com/office/drawing/2014/main" id="{0D35E81F-36B2-5E9C-38F3-8D48B6999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66:notes">
            <a:extLst>
              <a:ext uri="{FF2B5EF4-FFF2-40B4-BE49-F238E27FC236}">
                <a16:creationId xmlns:a16="http://schemas.microsoft.com/office/drawing/2014/main" id="{6C298207-723D-8312-9A99-AAB5F7BF89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7" name="Google Shape;1837;p66:notes">
            <a:extLst>
              <a:ext uri="{FF2B5EF4-FFF2-40B4-BE49-F238E27FC236}">
                <a16:creationId xmlns:a16="http://schemas.microsoft.com/office/drawing/2014/main" id="{CE17FE25-3FFF-32CB-2C6C-200843E711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0828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Full Content">
  <p:cSld name="1_Title and Full Conten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9"/>
          <p:cNvSpPr txBox="1">
            <a:spLocks noGrp="1"/>
          </p:cNvSpPr>
          <p:nvPr>
            <p:ph type="body" idx="1"/>
          </p:nvPr>
        </p:nvSpPr>
        <p:spPr>
          <a:xfrm>
            <a:off x="447577" y="779929"/>
            <a:ext cx="9010848" cy="63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lgun Gothic"/>
              <a:buNone/>
              <a:defRPr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58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583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583"/>
              </a:spcBef>
              <a:spcAft>
                <a:spcPts val="583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69"/>
          <p:cNvSpPr txBox="1">
            <a:spLocks noGrp="1"/>
          </p:cNvSpPr>
          <p:nvPr>
            <p:ph type="title"/>
          </p:nvPr>
        </p:nvSpPr>
        <p:spPr>
          <a:xfrm>
            <a:off x="447577" y="413055"/>
            <a:ext cx="5597544" cy="277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4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9"/>
          <p:cNvSpPr txBox="1">
            <a:spLocks noGrp="1"/>
          </p:cNvSpPr>
          <p:nvPr>
            <p:ph type="body" idx="2"/>
          </p:nvPr>
        </p:nvSpPr>
        <p:spPr>
          <a:xfrm>
            <a:off x="7617297" y="420876"/>
            <a:ext cx="1849144" cy="226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lgun Gothic"/>
              <a:buNone/>
              <a:defRPr sz="1100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58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583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583"/>
              </a:spcBef>
              <a:spcAft>
                <a:spcPts val="583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69"/>
          <p:cNvSpPr txBox="1">
            <a:spLocks noGrp="1"/>
          </p:cNvSpPr>
          <p:nvPr>
            <p:ph type="body" idx="3"/>
          </p:nvPr>
        </p:nvSpPr>
        <p:spPr>
          <a:xfrm>
            <a:off x="7617297" y="238346"/>
            <a:ext cx="1849144" cy="1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algun Gothic"/>
              <a:buNone/>
              <a:defRPr sz="1100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58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583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583"/>
              </a:spcBef>
              <a:spcAft>
                <a:spcPts val="583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69"/>
          <p:cNvSpPr txBox="1">
            <a:spLocks noGrp="1"/>
          </p:cNvSpPr>
          <p:nvPr>
            <p:ph type="sldNum" idx="12"/>
          </p:nvPr>
        </p:nvSpPr>
        <p:spPr>
          <a:xfrm>
            <a:off x="4535693" y="6601469"/>
            <a:ext cx="834614" cy="13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ct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ct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ct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ct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ct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ct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ct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ct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0" name="Google Shape;20;p69"/>
          <p:cNvSpPr/>
          <p:nvPr/>
        </p:nvSpPr>
        <p:spPr>
          <a:xfrm rot="-2260866">
            <a:off x="266112" y="2982961"/>
            <a:ext cx="9497578" cy="95480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595959">
                <a:alpha val="1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400" b="1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Very Confidential 정 우섭 2024.12</a:t>
            </a:r>
            <a:endParaRPr sz="4400" b="1">
              <a:solidFill>
                <a:srgbClr val="F2F2F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" name="Google Shape;21;p69"/>
          <p:cNvSpPr/>
          <p:nvPr/>
        </p:nvSpPr>
        <p:spPr>
          <a:xfrm>
            <a:off x="6465168" y="15624"/>
            <a:ext cx="3424319" cy="22272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595959">
                <a:alpha val="1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Very Confidential 정우섭 2024.12</a:t>
            </a:r>
            <a:endParaRPr sz="1000" b="1">
              <a:solidFill>
                <a:srgbClr val="A6A6A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69"/>
          <p:cNvSpPr/>
          <p:nvPr/>
        </p:nvSpPr>
        <p:spPr>
          <a:xfrm>
            <a:off x="403548" y="6445214"/>
            <a:ext cx="9044264" cy="226823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본문서내의 기획, 컨셉, 기술등 서술된 모든 내용은 정우섭 개인 에게 있으며, 허가 없이 무단 도용, 모방, 수정, 배포를 일체 금지 합니다. Ⓒ 2024. 정우섭 all right reserved. 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Dark">
  <p:cSld name="Thank You Dark">
    <p:bg>
      <p:bgPr>
        <a:solidFill>
          <a:schemeClr val="accent6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8"/>
          <p:cNvSpPr txBox="1">
            <a:spLocks noGrp="1"/>
          </p:cNvSpPr>
          <p:nvPr>
            <p:ph type="title"/>
          </p:nvPr>
        </p:nvSpPr>
        <p:spPr>
          <a:xfrm>
            <a:off x="415925" y="765174"/>
            <a:ext cx="907415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8"/>
          <p:cNvSpPr txBox="1">
            <a:spLocks noGrp="1"/>
          </p:cNvSpPr>
          <p:nvPr>
            <p:ph type="body" idx="1"/>
          </p:nvPr>
        </p:nvSpPr>
        <p:spPr>
          <a:xfrm>
            <a:off x="415925" y="1916114"/>
            <a:ext cx="9074150" cy="417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  <a:defRPr sz="1200" b="1" i="0" u="none" strike="noStrike" cap="none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048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048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Char char="-"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048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048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Char char="›"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1502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61"/>
              <a:buFont typeface="Arial"/>
              <a:buChar char="–"/>
              <a:defRPr sz="136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5023" algn="l" rtl="0">
              <a:lnSpc>
                <a:spcPct val="100000"/>
              </a:lnSpc>
              <a:spcBef>
                <a:spcPts val="583"/>
              </a:spcBef>
              <a:spcAft>
                <a:spcPts val="0"/>
              </a:spcAft>
              <a:buClr>
                <a:schemeClr val="dk1"/>
              </a:buClr>
              <a:buSzPts val="1361"/>
              <a:buFont typeface="Arial"/>
              <a:buChar char="•"/>
              <a:defRPr sz="136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5023" algn="l" rtl="0">
              <a:lnSpc>
                <a:spcPct val="100000"/>
              </a:lnSpc>
              <a:spcBef>
                <a:spcPts val="583"/>
              </a:spcBef>
              <a:spcAft>
                <a:spcPts val="0"/>
              </a:spcAft>
              <a:buClr>
                <a:schemeClr val="dk1"/>
              </a:buClr>
              <a:buSzPts val="1361"/>
              <a:buFont typeface="Arial"/>
              <a:buChar char="–"/>
              <a:defRPr sz="136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5023" algn="l" rtl="0">
              <a:lnSpc>
                <a:spcPct val="100000"/>
              </a:lnSpc>
              <a:spcBef>
                <a:spcPts val="583"/>
              </a:spcBef>
              <a:spcAft>
                <a:spcPts val="583"/>
              </a:spcAft>
              <a:buClr>
                <a:schemeClr val="dk1"/>
              </a:buClr>
              <a:buSzPts val="1361"/>
              <a:buFont typeface="Arial"/>
              <a:buChar char="•"/>
              <a:defRPr sz="136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68"/>
          <p:cNvSpPr txBox="1">
            <a:spLocks noGrp="1"/>
          </p:cNvSpPr>
          <p:nvPr>
            <p:ph type="sldNum" idx="12"/>
          </p:nvPr>
        </p:nvSpPr>
        <p:spPr>
          <a:xfrm>
            <a:off x="4535693" y="6626869"/>
            <a:ext cx="834614" cy="13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3" name="Google Shape;13;p68"/>
          <p:cNvSpPr/>
          <p:nvPr/>
        </p:nvSpPr>
        <p:spPr>
          <a:xfrm>
            <a:off x="403548" y="6445214"/>
            <a:ext cx="9044264" cy="226823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본문서내의 기획, 컨셉, 기술등 서술된 모든 내용은 정우섭 개인 에게 있으며, 허가 없이 무단 도용, 모방, 수정, 배포를 일체 금지 합니다. Ⓒ 2024. 정우섭 all right reserved. 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120">
          <p15:clr>
            <a:srgbClr val="F26B43"/>
          </p15:clr>
        </p15:guide>
        <p15:guide id="2" pos="262">
          <p15:clr>
            <a:srgbClr val="F26B43"/>
          </p15:clr>
        </p15:guide>
        <p15:guide id="3" pos="5978">
          <p15:clr>
            <a:srgbClr val="F26B43"/>
          </p15:clr>
        </p15:guide>
        <p15:guide id="4" pos="3187">
          <p15:clr>
            <a:srgbClr val="F26B43"/>
          </p15:clr>
        </p15:guide>
        <p15:guide id="5" pos="3053">
          <p15:clr>
            <a:srgbClr val="F26B43"/>
          </p15:clr>
        </p15:guide>
        <p15:guide id="6" orient="horz" pos="3838">
          <p15:clr>
            <a:srgbClr val="F26B43"/>
          </p15:clr>
        </p15:guide>
        <p15:guide id="7" pos="2213">
          <p15:clr>
            <a:srgbClr val="F26B43"/>
          </p15:clr>
        </p15:guide>
        <p15:guide id="8" pos="2077">
          <p15:clr>
            <a:srgbClr val="F26B43"/>
          </p15:clr>
        </p15:guide>
        <p15:guide id="9" pos="4027">
          <p15:clr>
            <a:srgbClr val="F26B43"/>
          </p15:clr>
        </p15:guide>
        <p15:guide id="10" pos="4163">
          <p15:clr>
            <a:srgbClr val="F26B43"/>
          </p15:clr>
        </p15:guide>
        <p15:guide id="11" orient="horz" pos="2160">
          <p15:clr>
            <a:srgbClr val="F26B43"/>
          </p15:clr>
        </p15:guide>
        <p15:guide id="12" orient="horz" pos="1207">
          <p15:clr>
            <a:srgbClr val="F26B43"/>
          </p15:clr>
        </p15:guide>
        <p15:guide id="13" orient="horz" pos="1071">
          <p15:clr>
            <a:srgbClr val="F26B43"/>
          </p15:clr>
        </p15:guide>
        <p15:guide id="14" orient="horz" pos="482">
          <p15:clr>
            <a:srgbClr val="F26B43"/>
          </p15:clr>
        </p15:guide>
        <p15:guide id="15" orient="horz" pos="397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8">
          <a:extLst>
            <a:ext uri="{FF2B5EF4-FFF2-40B4-BE49-F238E27FC236}">
              <a16:creationId xmlns:a16="http://schemas.microsoft.com/office/drawing/2014/main" id="{DD86DCDF-B92A-E730-B06C-FB82D3C65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p66">
            <a:extLst>
              <a:ext uri="{FF2B5EF4-FFF2-40B4-BE49-F238E27FC236}">
                <a16:creationId xmlns:a16="http://schemas.microsoft.com/office/drawing/2014/main" id="{DA6D3269-7CF2-0D38-3D17-CCE6B8F4354B}"/>
              </a:ext>
            </a:extLst>
          </p:cNvPr>
          <p:cNvSpPr/>
          <p:nvPr/>
        </p:nvSpPr>
        <p:spPr>
          <a:xfrm>
            <a:off x="298904" y="1382844"/>
            <a:ext cx="9262608" cy="5070492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40" name="Google Shape;1840;p66">
            <a:extLst>
              <a:ext uri="{FF2B5EF4-FFF2-40B4-BE49-F238E27FC236}">
                <a16:creationId xmlns:a16="http://schemas.microsoft.com/office/drawing/2014/main" id="{CA7944DD-FCBF-D34C-B496-83CF180B7F1D}"/>
              </a:ext>
            </a:extLst>
          </p:cNvPr>
          <p:cNvSpPr txBox="1"/>
          <p:nvPr/>
        </p:nvSpPr>
        <p:spPr>
          <a:xfrm>
            <a:off x="187324" y="165100"/>
            <a:ext cx="85821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alt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기반 여행 계획 생성 기능 </a:t>
            </a: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경로 추천 </a:t>
            </a: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ko-KR" alt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일정 생성</a:t>
            </a: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</p:txBody>
      </p:sp>
      <p:sp>
        <p:nvSpPr>
          <p:cNvPr id="1841" name="Google Shape;1841;p66">
            <a:extLst>
              <a:ext uri="{FF2B5EF4-FFF2-40B4-BE49-F238E27FC236}">
                <a16:creationId xmlns:a16="http://schemas.microsoft.com/office/drawing/2014/main" id="{EC9F34C6-705C-1ED0-708F-81CD65489F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8904" y="692696"/>
            <a:ext cx="9262608" cy="54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lgun Gothic"/>
              <a:buNone/>
            </a:pPr>
            <a:r>
              <a:rPr lang="ko-KR"/>
              <a:t>기능연계 구조</a:t>
            </a:r>
            <a:endParaRPr/>
          </a:p>
        </p:txBody>
      </p:sp>
      <p:sp>
        <p:nvSpPr>
          <p:cNvPr id="1842" name="Google Shape;1842;p66">
            <a:extLst>
              <a:ext uri="{FF2B5EF4-FFF2-40B4-BE49-F238E27FC236}">
                <a16:creationId xmlns:a16="http://schemas.microsoft.com/office/drawing/2014/main" id="{8B376B32-6F21-5BFB-192B-A1868910FEFC}"/>
              </a:ext>
            </a:extLst>
          </p:cNvPr>
          <p:cNvSpPr txBox="1"/>
          <p:nvPr/>
        </p:nvSpPr>
        <p:spPr>
          <a:xfrm>
            <a:off x="7761312" y="160338"/>
            <a:ext cx="1871638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시스템 개요</a:t>
            </a:r>
            <a:endParaRPr/>
          </a:p>
        </p:txBody>
      </p:sp>
      <p:sp>
        <p:nvSpPr>
          <p:cNvPr id="3" name="Google Shape;1846;p66">
            <a:extLst>
              <a:ext uri="{FF2B5EF4-FFF2-40B4-BE49-F238E27FC236}">
                <a16:creationId xmlns:a16="http://schemas.microsoft.com/office/drawing/2014/main" id="{0FD53B5C-23C0-98F2-711B-594A3EAC7BF8}"/>
              </a:ext>
            </a:extLst>
          </p:cNvPr>
          <p:cNvSpPr txBox="1"/>
          <p:nvPr/>
        </p:nvSpPr>
        <p:spPr>
          <a:xfrm>
            <a:off x="371202" y="1511308"/>
            <a:ext cx="9118011" cy="4212298"/>
          </a:xfrm>
          <a:prstGeom prst="rect">
            <a:avLst/>
          </a:prstGeom>
          <a:noFill/>
          <a:ln w="19050" cap="flat" cmpd="sng">
            <a:solidFill>
              <a:srgbClr val="D8D8D8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dirty="0"/>
              <a:t>AI </a:t>
            </a:r>
            <a:r>
              <a:rPr lang="ko-KR" altLang="en-US" sz="1100" dirty="0"/>
              <a:t>기반 여행 계획 생성 기능 </a:t>
            </a:r>
            <a:r>
              <a:rPr lang="en-US" altLang="ko-KR" sz="1100" dirty="0"/>
              <a:t>(</a:t>
            </a:r>
            <a:r>
              <a:rPr lang="ko-KR" altLang="en-US" sz="1100" dirty="0"/>
              <a:t>경로 추천 </a:t>
            </a:r>
            <a:r>
              <a:rPr lang="en-US" altLang="ko-KR" sz="1100" dirty="0"/>
              <a:t>+ </a:t>
            </a:r>
            <a:r>
              <a:rPr lang="ko-KR" altLang="en-US" sz="1100" dirty="0"/>
              <a:t>일정 생성</a:t>
            </a:r>
            <a:r>
              <a:rPr lang="en-US" altLang="ko-KR" sz="1100" dirty="0"/>
              <a:t>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100" b="1" dirty="0">
                <a:solidFill>
                  <a:srgbClr val="A5A5A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100" b="1" dirty="0"/>
              <a:t>목표</a:t>
            </a:r>
            <a:r>
              <a:rPr lang="en-US" altLang="ko-KR" sz="1100" b="1" dirty="0"/>
              <a:t>:</a:t>
            </a:r>
            <a:r>
              <a:rPr lang="ko-KR" altLang="en-US" sz="1100" dirty="0"/>
              <a:t> 사용자가 </a:t>
            </a:r>
            <a:r>
              <a:rPr lang="ko-KR" altLang="en-US" sz="1100" dirty="0" err="1"/>
              <a:t>피드를</a:t>
            </a:r>
            <a:r>
              <a:rPr lang="ko-KR" altLang="en-US" sz="1100" dirty="0"/>
              <a:t> 작성할 때</a:t>
            </a:r>
            <a:r>
              <a:rPr lang="en-US" altLang="ko-KR" sz="1100" dirty="0"/>
              <a:t>, </a:t>
            </a:r>
            <a:r>
              <a:rPr lang="ko-KR" altLang="en-US" sz="1100" b="1" dirty="0"/>
              <a:t>자동으로 추천 경로와 일정이 제시되도록 만들어서</a:t>
            </a:r>
            <a:r>
              <a:rPr lang="ko-KR" altLang="en-US" sz="1100" dirty="0"/>
              <a:t> 사용자가 빠르게 계획을 세울 수 있게 돕기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endParaRPr lang="en-US" altLang="ko-KR" sz="1100" dirty="0"/>
          </a:p>
          <a:p>
            <a:pPr>
              <a:buNone/>
            </a:pPr>
            <a:r>
              <a:rPr lang="ko-KR" altLang="en-US" b="1" dirty="0"/>
              <a:t>구현 목표 </a:t>
            </a:r>
            <a:r>
              <a:rPr lang="en-US" altLang="ko-KR" b="1" dirty="0"/>
              <a:t>&amp; </a:t>
            </a:r>
            <a:r>
              <a:rPr lang="ko-KR" altLang="en-US" b="1" dirty="0"/>
              <a:t>접근 방식</a:t>
            </a:r>
          </a:p>
          <a:p>
            <a:pPr>
              <a:buFont typeface="+mj-lt"/>
              <a:buAutoNum type="arabicPeriod"/>
            </a:pPr>
            <a:r>
              <a:rPr lang="ko-KR" altLang="en-US" sz="1100" b="1" dirty="0"/>
              <a:t>사용자가 </a:t>
            </a:r>
            <a:r>
              <a:rPr lang="ko-KR" altLang="en-US" sz="1100" b="1" dirty="0" err="1"/>
              <a:t>피드를</a:t>
            </a:r>
            <a:r>
              <a:rPr lang="ko-KR" altLang="en-US" sz="1100" b="1" dirty="0"/>
              <a:t> 작성할 때</a:t>
            </a:r>
            <a:r>
              <a:rPr lang="en-US" altLang="ko-KR" sz="1100" b="1" dirty="0"/>
              <a:t>, AI</a:t>
            </a:r>
            <a:r>
              <a:rPr lang="ko-KR" altLang="en-US" sz="1100" b="1" dirty="0"/>
              <a:t>가 자동으로 관련된 정보를 제공하고 선택할 수 있게 함</a:t>
            </a:r>
            <a:r>
              <a:rPr lang="en-US" altLang="ko-KR" sz="1100" b="1" dirty="0"/>
              <a:t>.</a:t>
            </a:r>
            <a:endParaRPr lang="ko-KR" altLang="en-US" sz="1100" dirty="0"/>
          </a:p>
          <a:p>
            <a:pPr>
              <a:buFont typeface="+mj-lt"/>
              <a:buAutoNum type="arabicPeriod"/>
            </a:pPr>
            <a:r>
              <a:rPr lang="ko-KR" altLang="en-US" sz="1100" dirty="0"/>
              <a:t>사용자가 입력하는 단어</a:t>
            </a:r>
            <a:r>
              <a:rPr lang="en-US" altLang="ko-KR" sz="1100" dirty="0"/>
              <a:t>(</a:t>
            </a:r>
            <a:r>
              <a:rPr lang="ko-KR" altLang="en-US" sz="1100" dirty="0"/>
              <a:t>예</a:t>
            </a:r>
            <a:r>
              <a:rPr lang="en-US" altLang="ko-KR" sz="1100" dirty="0"/>
              <a:t>: "</a:t>
            </a:r>
            <a:r>
              <a:rPr lang="ko-KR" altLang="en-US" sz="1100" dirty="0"/>
              <a:t>파리 여행</a:t>
            </a:r>
            <a:r>
              <a:rPr lang="en-US" altLang="ko-KR" sz="1100" dirty="0"/>
              <a:t>")</a:t>
            </a:r>
            <a:r>
              <a:rPr lang="ko-KR" altLang="en-US" sz="1100" dirty="0"/>
              <a:t>를 기반으로 </a:t>
            </a:r>
            <a:r>
              <a:rPr lang="ko-KR" altLang="en-US" sz="1100" b="1" dirty="0"/>
              <a:t>최적의 일정</a:t>
            </a:r>
            <a:r>
              <a:rPr lang="en-US" altLang="ko-KR" sz="1100" b="1" dirty="0"/>
              <a:t>, </a:t>
            </a:r>
            <a:r>
              <a:rPr lang="ko-KR" altLang="en-US" sz="1100" b="1" dirty="0"/>
              <a:t>경로</a:t>
            </a:r>
            <a:r>
              <a:rPr lang="en-US" altLang="ko-KR" sz="1100" b="1" dirty="0"/>
              <a:t>, </a:t>
            </a:r>
            <a:r>
              <a:rPr lang="ko-KR" altLang="en-US" sz="1100" b="1" dirty="0"/>
              <a:t>맛집 리스트 등을 자동으로 제시</a:t>
            </a:r>
            <a:r>
              <a:rPr lang="en-US" altLang="ko-KR" sz="1100" b="1" dirty="0"/>
              <a:t>.</a:t>
            </a:r>
            <a:endParaRPr lang="ko-KR" altLang="en-US" sz="1100" dirty="0"/>
          </a:p>
          <a:p>
            <a:pPr>
              <a:buFont typeface="+mj-lt"/>
              <a:buAutoNum type="arabicPeriod"/>
            </a:pPr>
            <a:r>
              <a:rPr lang="ko-KR" altLang="en-US" sz="1100" dirty="0"/>
              <a:t>사용자가 추천된 정보 중 일부를 선택하여 </a:t>
            </a:r>
            <a:r>
              <a:rPr lang="ko-KR" altLang="en-US" sz="1100" b="1" dirty="0"/>
              <a:t>자신의 </a:t>
            </a:r>
            <a:r>
              <a:rPr lang="ko-KR" altLang="en-US" sz="1100" b="1" dirty="0" err="1"/>
              <a:t>피드로</a:t>
            </a:r>
            <a:r>
              <a:rPr lang="ko-KR" altLang="en-US" sz="1100" b="1" dirty="0"/>
              <a:t> 쉽게 추가 가능</a:t>
            </a:r>
            <a:r>
              <a:rPr lang="en-US" altLang="ko-KR" sz="1100" b="1" dirty="0"/>
              <a:t>.</a:t>
            </a:r>
            <a:endParaRPr lang="ko-KR" altLang="en-US" sz="1100" dirty="0"/>
          </a:p>
          <a:p>
            <a:pPr>
              <a:buFont typeface="+mj-lt"/>
              <a:buAutoNum type="arabicPeriod"/>
            </a:pPr>
            <a:r>
              <a:rPr lang="ko-KR" altLang="en-US" sz="1100" dirty="0"/>
              <a:t>이 기능은 단순 검색이 아니라</a:t>
            </a:r>
            <a:r>
              <a:rPr lang="en-US" altLang="ko-KR" sz="1100" dirty="0"/>
              <a:t>, </a:t>
            </a:r>
            <a:r>
              <a:rPr lang="ko-KR" altLang="en-US" sz="1100" b="1" dirty="0"/>
              <a:t>사용자가 </a:t>
            </a:r>
            <a:r>
              <a:rPr lang="ko-KR" altLang="en-US" sz="1100" b="1" dirty="0" err="1"/>
              <a:t>피드를</a:t>
            </a:r>
            <a:r>
              <a:rPr lang="ko-KR" altLang="en-US" sz="1100" b="1" dirty="0"/>
              <a:t> 작성하는 과정에서 즉시 추천되는 게 핵심</a:t>
            </a:r>
            <a:r>
              <a:rPr lang="en-US" altLang="ko-KR" sz="1100" b="1" dirty="0"/>
              <a:t>.</a:t>
            </a:r>
          </a:p>
          <a:p>
            <a:endParaRPr lang="en-US" altLang="ko-KR" sz="1100" b="1" dirty="0"/>
          </a:p>
          <a:p>
            <a:r>
              <a:rPr lang="en-US" altLang="ko-KR" b="1" dirty="0"/>
              <a:t>1. </a:t>
            </a:r>
            <a:r>
              <a:rPr lang="ko-KR" altLang="en-US" b="1" dirty="0" err="1"/>
              <a:t>피드</a:t>
            </a:r>
            <a:r>
              <a:rPr lang="ko-KR" altLang="en-US" b="1" dirty="0"/>
              <a:t> 화면 구성</a:t>
            </a:r>
            <a:endParaRPr lang="en-US" altLang="ko-KR" b="1" dirty="0"/>
          </a:p>
          <a:p>
            <a:r>
              <a:rPr lang="ko-KR" altLang="en-US" sz="1100" dirty="0"/>
              <a:t>목적</a:t>
            </a:r>
            <a:r>
              <a:rPr lang="en-US" altLang="ko-KR" sz="1100" dirty="0"/>
              <a:t>: </a:t>
            </a:r>
            <a:r>
              <a:rPr lang="ko-KR" altLang="en-US" sz="1100" dirty="0"/>
              <a:t>사용자가 여행 계획을 작성 </a:t>
            </a:r>
            <a:r>
              <a:rPr lang="ko-KR" altLang="en-US" sz="1100" dirty="0" err="1"/>
              <a:t>할때</a:t>
            </a:r>
            <a:r>
              <a:rPr lang="ko-KR" altLang="en-US" sz="1100" dirty="0"/>
              <a:t> 자동으로 </a:t>
            </a:r>
            <a:r>
              <a:rPr lang="en-US" altLang="ko-KR" sz="1100" dirty="0"/>
              <a:t>AI </a:t>
            </a:r>
            <a:r>
              <a:rPr lang="ko-KR" altLang="en-US" sz="1100" dirty="0"/>
              <a:t>추천 경로와 일정 목록이 제공됨</a:t>
            </a:r>
            <a:endParaRPr lang="en-US" altLang="ko-KR" sz="1100" dirty="0"/>
          </a:p>
          <a:p>
            <a:r>
              <a:rPr lang="ko-KR" altLang="en-US" sz="1100" dirty="0"/>
              <a:t>구성요소</a:t>
            </a:r>
            <a:r>
              <a:rPr lang="en-US" altLang="ko-KR" sz="1100" dirty="0"/>
              <a:t>: </a:t>
            </a:r>
          </a:p>
          <a:p>
            <a:r>
              <a:rPr lang="en-US" altLang="ko-KR" sz="1100" dirty="0"/>
              <a:t> </a:t>
            </a:r>
            <a:r>
              <a:rPr lang="ko-KR" altLang="en-US" sz="1100" dirty="0"/>
              <a:t>텍스트 입력필드 </a:t>
            </a:r>
            <a:r>
              <a:rPr lang="en-US" altLang="ko-KR" sz="1100" dirty="0"/>
              <a:t>: </a:t>
            </a:r>
            <a:r>
              <a:rPr lang="ko-KR" altLang="en-US" sz="1100" dirty="0"/>
              <a:t>사용자가 여행 계획을 작성하는 공간 </a:t>
            </a:r>
            <a:r>
              <a:rPr lang="en-US" altLang="ko-KR" sz="1100" dirty="0"/>
              <a:t>(</a:t>
            </a:r>
            <a:r>
              <a:rPr lang="ko-KR" altLang="en-US" sz="1100" dirty="0"/>
              <a:t>예</a:t>
            </a:r>
            <a:r>
              <a:rPr lang="en-US" altLang="ko-KR" sz="1100" dirty="0"/>
              <a:t>: </a:t>
            </a:r>
            <a:r>
              <a:rPr lang="ko-KR" altLang="en-US" sz="1100" dirty="0"/>
              <a:t>파리 여행 계획하기</a:t>
            </a:r>
            <a:r>
              <a:rPr lang="en-US" altLang="ko-KR" sz="1100" dirty="0"/>
              <a:t>)</a:t>
            </a:r>
          </a:p>
          <a:p>
            <a:r>
              <a:rPr lang="en-US" altLang="ko-KR" sz="1100" dirty="0"/>
              <a:t> </a:t>
            </a:r>
            <a:r>
              <a:rPr lang="ko-KR" altLang="en-US" sz="1100" dirty="0"/>
              <a:t>이미지 업로드 버튼</a:t>
            </a:r>
            <a:r>
              <a:rPr lang="en-US" altLang="ko-KR" sz="1100" dirty="0"/>
              <a:t> : </a:t>
            </a:r>
            <a:r>
              <a:rPr lang="ko-KR" altLang="en-US" sz="1100" dirty="0"/>
              <a:t>사용자가 직접 찍은 사진을 추가할 수 있게 함</a:t>
            </a:r>
            <a:endParaRPr lang="en-US" altLang="ko-KR" sz="1100" dirty="0"/>
          </a:p>
          <a:p>
            <a:r>
              <a:rPr lang="en-US" altLang="ko-KR" sz="1100" dirty="0"/>
              <a:t> AI </a:t>
            </a:r>
            <a:r>
              <a:rPr lang="ko-KR" altLang="en-US" sz="1100" dirty="0"/>
              <a:t>추천 버튼 </a:t>
            </a:r>
            <a:r>
              <a:rPr lang="en-US" altLang="ko-KR" sz="1100" dirty="0"/>
              <a:t>: </a:t>
            </a:r>
            <a:r>
              <a:rPr lang="ko-KR" altLang="en-US" sz="1100" dirty="0"/>
              <a:t>사용자가 텍스트를 입력하면 </a:t>
            </a:r>
            <a:r>
              <a:rPr lang="en-US" altLang="ko-KR" sz="1100" dirty="0"/>
              <a:t>AI</a:t>
            </a:r>
            <a:r>
              <a:rPr lang="ko-KR" altLang="en-US" sz="1100" dirty="0"/>
              <a:t>가 추천 정보를 자동으로 보여줌</a:t>
            </a:r>
            <a:endParaRPr lang="en-US" altLang="ko-KR" sz="1100" dirty="0"/>
          </a:p>
          <a:p>
            <a:r>
              <a:rPr lang="en-US" altLang="ko-KR" sz="1100" dirty="0"/>
              <a:t> AI </a:t>
            </a:r>
            <a:r>
              <a:rPr lang="ko-KR" altLang="en-US" sz="1100" dirty="0"/>
              <a:t>추천 정보 리스트</a:t>
            </a:r>
            <a:r>
              <a:rPr lang="en-US" altLang="ko-KR" sz="1100" dirty="0"/>
              <a:t>(</a:t>
            </a:r>
            <a:r>
              <a:rPr lang="ko-KR" altLang="en-US" sz="1100" dirty="0"/>
              <a:t>자동 생성</a:t>
            </a:r>
            <a:r>
              <a:rPr lang="en-US" altLang="ko-KR" sz="1100" dirty="0"/>
              <a:t>) : </a:t>
            </a:r>
            <a:br>
              <a:rPr lang="en-US" altLang="ko-KR" sz="1100" dirty="0"/>
            </a:br>
            <a:r>
              <a:rPr lang="en-US" altLang="ko-KR" sz="1100" dirty="0"/>
              <a:t> - </a:t>
            </a:r>
            <a:r>
              <a:rPr lang="ko-KR" altLang="en-US" sz="1100" dirty="0"/>
              <a:t>추천 경로 </a:t>
            </a:r>
            <a:r>
              <a:rPr lang="en-US" altLang="ko-KR" sz="1100" dirty="0"/>
              <a:t>(</a:t>
            </a:r>
            <a:r>
              <a:rPr lang="ko-KR" altLang="en-US" sz="1100" dirty="0"/>
              <a:t>예</a:t>
            </a:r>
            <a:r>
              <a:rPr lang="en-US" altLang="ko-KR" sz="1100" dirty="0"/>
              <a:t>: “</a:t>
            </a:r>
            <a:r>
              <a:rPr lang="ko-KR" altLang="en-US" sz="1100" dirty="0" err="1"/>
              <a:t>루브르</a:t>
            </a:r>
            <a:r>
              <a:rPr lang="ko-KR" altLang="en-US" sz="1100" dirty="0"/>
              <a:t> 박물관 </a:t>
            </a:r>
            <a:r>
              <a:rPr lang="en-US" altLang="ko-KR" sz="1100" dirty="0">
                <a:sym typeface="Wingdings" panose="05000000000000000000" pitchFamily="2" charset="2"/>
              </a:rPr>
              <a:t> </a:t>
            </a:r>
            <a:r>
              <a:rPr lang="ko-KR" altLang="en-US" sz="1100" dirty="0" err="1">
                <a:sym typeface="Wingdings" panose="05000000000000000000" pitchFamily="2" charset="2"/>
              </a:rPr>
              <a:t>노트르담</a:t>
            </a:r>
            <a:r>
              <a:rPr lang="ko-KR" altLang="en-US" sz="1100" dirty="0">
                <a:sym typeface="Wingdings" panose="05000000000000000000" pitchFamily="2" charset="2"/>
              </a:rPr>
              <a:t> 대성당 </a:t>
            </a:r>
            <a:r>
              <a:rPr lang="en-US" altLang="ko-KR" sz="1100" dirty="0">
                <a:sym typeface="Wingdings" panose="05000000000000000000" pitchFamily="2" charset="2"/>
              </a:rPr>
              <a:t> </a:t>
            </a:r>
            <a:r>
              <a:rPr lang="ko-KR" altLang="en-US" sz="1100" dirty="0" err="1">
                <a:sym typeface="Wingdings" panose="05000000000000000000" pitchFamily="2" charset="2"/>
              </a:rPr>
              <a:t>에펠탑</a:t>
            </a:r>
            <a:r>
              <a:rPr lang="en-US" altLang="ko-KR" sz="1100" dirty="0">
                <a:sym typeface="Wingdings" panose="05000000000000000000" pitchFamily="2" charset="2"/>
              </a:rPr>
              <a:t>“)</a:t>
            </a:r>
            <a:endParaRPr lang="en-US" altLang="ko-KR" sz="1100" dirty="0"/>
          </a:p>
          <a:p>
            <a:r>
              <a:rPr lang="en-US" altLang="ko-KR" sz="1100" dirty="0"/>
              <a:t> - </a:t>
            </a:r>
            <a:r>
              <a:rPr lang="ko-KR" altLang="en-US" sz="1100" dirty="0"/>
              <a:t>추천 맛집 </a:t>
            </a:r>
            <a:r>
              <a:rPr lang="en-US" altLang="ko-KR" sz="1100" dirty="0"/>
              <a:t>(</a:t>
            </a:r>
            <a:r>
              <a:rPr lang="ko-KR" altLang="en-US" sz="1100" dirty="0"/>
              <a:t>예</a:t>
            </a:r>
            <a:r>
              <a:rPr lang="en-US" altLang="ko-KR" sz="1100" dirty="0"/>
              <a:t>: “</a:t>
            </a:r>
            <a:r>
              <a:rPr lang="ko-KR" altLang="en-US" sz="1100" dirty="0"/>
              <a:t>현지인이 추천하는 파리 카페 </a:t>
            </a:r>
            <a:r>
              <a:rPr lang="en-US" altLang="ko-KR" sz="1100" dirty="0"/>
              <a:t>5</a:t>
            </a:r>
            <a:r>
              <a:rPr lang="ko-KR" altLang="en-US" sz="1100" dirty="0"/>
              <a:t>곳</a:t>
            </a:r>
            <a:r>
              <a:rPr lang="en-US" altLang="ko-KR" sz="1100" dirty="0"/>
              <a:t>”)</a:t>
            </a:r>
          </a:p>
          <a:p>
            <a:r>
              <a:rPr lang="en-US" altLang="ko-KR" sz="1100" dirty="0"/>
              <a:t> - </a:t>
            </a:r>
            <a:r>
              <a:rPr lang="ko-KR" altLang="en-US" sz="1100" dirty="0"/>
              <a:t>추천 일정 </a:t>
            </a:r>
            <a:r>
              <a:rPr lang="en-US" altLang="ko-KR" sz="1100" dirty="0"/>
              <a:t>(</a:t>
            </a:r>
            <a:r>
              <a:rPr lang="ko-KR" altLang="en-US" sz="1100" dirty="0"/>
              <a:t>예</a:t>
            </a:r>
            <a:r>
              <a:rPr lang="en-US" altLang="ko-KR" sz="1100" dirty="0"/>
              <a:t>: “2</a:t>
            </a:r>
            <a:r>
              <a:rPr lang="ko-KR" altLang="en-US" sz="1100" dirty="0"/>
              <a:t>일간 파리 둘러보기 코스</a:t>
            </a:r>
            <a:r>
              <a:rPr lang="en-US" altLang="ko-KR" sz="1100" dirty="0"/>
              <a:t>“)</a:t>
            </a:r>
          </a:p>
          <a:p>
            <a:r>
              <a:rPr lang="en-US" altLang="ko-KR" sz="1100" dirty="0"/>
              <a:t> - </a:t>
            </a:r>
            <a:r>
              <a:rPr lang="ko-KR" altLang="en-US" sz="1100" dirty="0"/>
              <a:t>추천 장소 정보는 이미지와 간단한 설명 포함하여 표시</a:t>
            </a:r>
            <a:r>
              <a:rPr lang="en-US" altLang="ko-KR" sz="1100" dirty="0"/>
              <a:t>. (</a:t>
            </a:r>
            <a:r>
              <a:rPr lang="ko-KR" altLang="en-US" sz="1100" dirty="0"/>
              <a:t>지도 </a:t>
            </a:r>
            <a:r>
              <a:rPr lang="en-US" altLang="ko-KR" sz="1100" dirty="0"/>
              <a:t>Pin Point)</a:t>
            </a:r>
          </a:p>
          <a:p>
            <a:r>
              <a:rPr lang="en-US" altLang="ko-KR" sz="1100" dirty="0"/>
              <a:t> </a:t>
            </a:r>
            <a:r>
              <a:rPr lang="ko-KR" altLang="en-US" sz="1100" dirty="0"/>
              <a:t>추가 버튼 </a:t>
            </a:r>
            <a:r>
              <a:rPr lang="en-US" altLang="ko-KR" sz="1100" dirty="0"/>
              <a:t>: </a:t>
            </a:r>
            <a:r>
              <a:rPr lang="ko-KR" altLang="en-US" sz="11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사용자가 추천 목록에서 마음에 드는 것을 클릭하여 </a:t>
            </a:r>
            <a:r>
              <a:rPr lang="ko-KR" altLang="en-US" sz="1100" dirty="0" err="1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피드에</a:t>
            </a:r>
            <a:r>
              <a:rPr lang="ko-KR" altLang="en-US" sz="11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추가</a:t>
            </a:r>
            <a:endParaRPr lang="en-US" altLang="ko-KR" sz="1050" dirty="0"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  <a:p>
            <a:r>
              <a:rPr lang="en-US" altLang="ko-KR" sz="1100" dirty="0"/>
              <a:t> </a:t>
            </a:r>
            <a:r>
              <a:rPr lang="ko-KR" altLang="en-US" sz="1100" dirty="0"/>
              <a:t>저장 버튼</a:t>
            </a:r>
            <a:r>
              <a:rPr lang="en-US" altLang="ko-KR" sz="1100" dirty="0"/>
              <a:t> : </a:t>
            </a:r>
            <a:r>
              <a:rPr lang="ko-KR" altLang="en-US" sz="1100" dirty="0"/>
              <a:t>사용자가 작성한 </a:t>
            </a:r>
            <a:r>
              <a:rPr lang="ko-KR" altLang="en-US" sz="1100" dirty="0" err="1"/>
              <a:t>피드를</a:t>
            </a:r>
            <a:r>
              <a:rPr lang="ko-KR" altLang="en-US" sz="1100" dirty="0"/>
              <a:t> 저장하고 게시할 수 있게 함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 dirty="0">
              <a:solidFill>
                <a:srgbClr val="A5A5A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696970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8">
          <a:extLst>
            <a:ext uri="{FF2B5EF4-FFF2-40B4-BE49-F238E27FC236}">
              <a16:creationId xmlns:a16="http://schemas.microsoft.com/office/drawing/2014/main" id="{6C5DDA23-EAAA-25CA-F6D9-B97775F02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p66">
            <a:extLst>
              <a:ext uri="{FF2B5EF4-FFF2-40B4-BE49-F238E27FC236}">
                <a16:creationId xmlns:a16="http://schemas.microsoft.com/office/drawing/2014/main" id="{67F95A74-C4AD-A0F1-E7B4-BCEC0B758AE1}"/>
              </a:ext>
            </a:extLst>
          </p:cNvPr>
          <p:cNvSpPr/>
          <p:nvPr/>
        </p:nvSpPr>
        <p:spPr>
          <a:xfrm>
            <a:off x="298904" y="1382844"/>
            <a:ext cx="9262608" cy="5070492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40" name="Google Shape;1840;p66">
            <a:extLst>
              <a:ext uri="{FF2B5EF4-FFF2-40B4-BE49-F238E27FC236}">
                <a16:creationId xmlns:a16="http://schemas.microsoft.com/office/drawing/2014/main" id="{75CE797A-92C5-EA2B-B912-CA65038BAB01}"/>
              </a:ext>
            </a:extLst>
          </p:cNvPr>
          <p:cNvSpPr txBox="1"/>
          <p:nvPr/>
        </p:nvSpPr>
        <p:spPr>
          <a:xfrm>
            <a:off x="187324" y="165100"/>
            <a:ext cx="85821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alt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기반 여행 계획 생성 기능 </a:t>
            </a: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경로 추천 </a:t>
            </a: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ko-KR" alt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일정 생성</a:t>
            </a: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</p:txBody>
      </p:sp>
      <p:sp>
        <p:nvSpPr>
          <p:cNvPr id="1841" name="Google Shape;1841;p66">
            <a:extLst>
              <a:ext uri="{FF2B5EF4-FFF2-40B4-BE49-F238E27FC236}">
                <a16:creationId xmlns:a16="http://schemas.microsoft.com/office/drawing/2014/main" id="{814AC237-3934-349D-EEB9-AC0AF03CAA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8904" y="692696"/>
            <a:ext cx="9262608" cy="54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lgun Gothic"/>
              <a:buNone/>
            </a:pPr>
            <a:r>
              <a:rPr lang="ko-KR"/>
              <a:t>기능연계 구조</a:t>
            </a:r>
            <a:endParaRPr/>
          </a:p>
        </p:txBody>
      </p:sp>
      <p:sp>
        <p:nvSpPr>
          <p:cNvPr id="1842" name="Google Shape;1842;p66">
            <a:extLst>
              <a:ext uri="{FF2B5EF4-FFF2-40B4-BE49-F238E27FC236}">
                <a16:creationId xmlns:a16="http://schemas.microsoft.com/office/drawing/2014/main" id="{EEFC371C-E0B1-F376-A0A4-13DECCD42E31}"/>
              </a:ext>
            </a:extLst>
          </p:cNvPr>
          <p:cNvSpPr txBox="1"/>
          <p:nvPr/>
        </p:nvSpPr>
        <p:spPr>
          <a:xfrm>
            <a:off x="7761312" y="160338"/>
            <a:ext cx="1871638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시스템 개요</a:t>
            </a:r>
            <a:endParaRPr/>
          </a:p>
        </p:txBody>
      </p:sp>
      <p:sp>
        <p:nvSpPr>
          <p:cNvPr id="3" name="Google Shape;1846;p66">
            <a:extLst>
              <a:ext uri="{FF2B5EF4-FFF2-40B4-BE49-F238E27FC236}">
                <a16:creationId xmlns:a16="http://schemas.microsoft.com/office/drawing/2014/main" id="{675B3BD5-ED6C-6A94-C264-F3A32C3A473C}"/>
              </a:ext>
            </a:extLst>
          </p:cNvPr>
          <p:cNvSpPr txBox="1"/>
          <p:nvPr/>
        </p:nvSpPr>
        <p:spPr>
          <a:xfrm>
            <a:off x="371202" y="1511308"/>
            <a:ext cx="9118011" cy="3889133"/>
          </a:xfrm>
          <a:prstGeom prst="rect">
            <a:avLst/>
          </a:prstGeom>
          <a:noFill/>
          <a:ln w="19050" cap="flat" cmpd="sng">
            <a:solidFill>
              <a:srgbClr val="D8D8D8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r>
              <a:rPr lang="en-US" altLang="ko-KR" b="1" dirty="0"/>
              <a:t>2. </a:t>
            </a:r>
            <a:r>
              <a:rPr lang="ko-KR" altLang="en-US" b="1" dirty="0" err="1"/>
              <a:t>피드</a:t>
            </a:r>
            <a:r>
              <a:rPr lang="ko-KR" altLang="en-US" b="1" dirty="0"/>
              <a:t> 화면의</a:t>
            </a:r>
            <a:r>
              <a:rPr lang="en-US" altLang="ko-KR" b="1" dirty="0"/>
              <a:t> AI</a:t>
            </a:r>
            <a:r>
              <a:rPr lang="ko-KR" altLang="en-US" b="1" dirty="0"/>
              <a:t>기능 </a:t>
            </a:r>
            <a:r>
              <a:rPr lang="en-US" altLang="ko-KR" b="1" dirty="0"/>
              <a:t>(</a:t>
            </a:r>
            <a:r>
              <a:rPr lang="ko-KR" altLang="en-US" b="1" dirty="0"/>
              <a:t>진짜로 활용 가치 있게 만들기</a:t>
            </a:r>
            <a:r>
              <a:rPr lang="en-US" altLang="ko-KR" b="1" dirty="0"/>
              <a:t>)</a:t>
            </a:r>
          </a:p>
          <a:p>
            <a:endParaRPr lang="en-US" altLang="ko-KR" sz="1600" b="1" dirty="0">
              <a:solidFill>
                <a:srgbClr val="C00000"/>
              </a:solidFill>
            </a:endParaRPr>
          </a:p>
          <a:p>
            <a:r>
              <a:rPr lang="ko-KR" altLang="en-US" sz="1200" b="1" dirty="0">
                <a:solidFill>
                  <a:srgbClr val="C00000"/>
                </a:solidFill>
              </a:rPr>
              <a:t>목표</a:t>
            </a:r>
            <a:r>
              <a:rPr lang="en-US" altLang="ko-KR" sz="1200" b="1" dirty="0">
                <a:solidFill>
                  <a:srgbClr val="C00000"/>
                </a:solidFill>
              </a:rPr>
              <a:t>: </a:t>
            </a:r>
            <a:r>
              <a:rPr lang="ko-KR" altLang="en-US" sz="1200" b="1" dirty="0">
                <a:solidFill>
                  <a:srgbClr val="C00000"/>
                </a:solidFill>
              </a:rPr>
              <a:t>사용자가 여행 </a:t>
            </a:r>
            <a:r>
              <a:rPr lang="ko-KR" altLang="en-US" sz="1200" b="1" dirty="0" err="1">
                <a:solidFill>
                  <a:srgbClr val="C00000"/>
                </a:solidFill>
              </a:rPr>
              <a:t>피드를</a:t>
            </a:r>
            <a:r>
              <a:rPr lang="ko-KR" altLang="en-US" sz="1200" b="1" dirty="0">
                <a:solidFill>
                  <a:srgbClr val="C00000"/>
                </a:solidFill>
              </a:rPr>
              <a:t> 작성할 </a:t>
            </a:r>
            <a:r>
              <a:rPr lang="ko-KR" altLang="en-US" sz="1200" b="1" dirty="0" err="1">
                <a:solidFill>
                  <a:srgbClr val="C00000"/>
                </a:solidFill>
              </a:rPr>
              <a:t>떄</a:t>
            </a:r>
            <a:r>
              <a:rPr lang="en-US" altLang="ko-KR" sz="1200" b="1" dirty="0">
                <a:solidFill>
                  <a:srgbClr val="C00000"/>
                </a:solidFill>
              </a:rPr>
              <a:t>, </a:t>
            </a:r>
            <a:r>
              <a:rPr lang="ko-KR" altLang="en-US" sz="1200" b="1" dirty="0">
                <a:solidFill>
                  <a:srgbClr val="C00000"/>
                </a:solidFill>
              </a:rPr>
              <a:t>다른 </a:t>
            </a:r>
            <a:r>
              <a:rPr lang="en-US" altLang="ko-KR" sz="1200" b="1" dirty="0">
                <a:solidFill>
                  <a:srgbClr val="C00000"/>
                </a:solidFill>
              </a:rPr>
              <a:t>SNS(</a:t>
            </a:r>
            <a:r>
              <a:rPr lang="ko-KR" altLang="en-US" sz="1200" b="1" dirty="0">
                <a:solidFill>
                  <a:srgbClr val="C00000"/>
                </a:solidFill>
              </a:rPr>
              <a:t>인스타그램</a:t>
            </a:r>
            <a:r>
              <a:rPr lang="en-US" altLang="ko-KR" sz="1200" b="1" dirty="0">
                <a:solidFill>
                  <a:srgbClr val="C00000"/>
                </a:solidFill>
              </a:rPr>
              <a:t>, </a:t>
            </a:r>
            <a:r>
              <a:rPr lang="ko-KR" altLang="en-US" sz="1200" b="1" dirty="0">
                <a:solidFill>
                  <a:srgbClr val="C00000"/>
                </a:solidFill>
              </a:rPr>
              <a:t>유튜브</a:t>
            </a:r>
            <a:r>
              <a:rPr lang="en-US" altLang="ko-KR" sz="1200" b="1" dirty="0">
                <a:solidFill>
                  <a:srgbClr val="C00000"/>
                </a:solidFill>
              </a:rPr>
              <a:t>, </a:t>
            </a:r>
            <a:r>
              <a:rPr lang="ko-KR" altLang="en-US" sz="1200" b="1" dirty="0" err="1">
                <a:solidFill>
                  <a:srgbClr val="C00000"/>
                </a:solidFill>
              </a:rPr>
              <a:t>구글맵</a:t>
            </a:r>
            <a:r>
              <a:rPr lang="en-US" altLang="ko-KR" sz="1200" b="1" dirty="0">
                <a:solidFill>
                  <a:srgbClr val="C00000"/>
                </a:solidFill>
              </a:rPr>
              <a:t>)</a:t>
            </a:r>
            <a:r>
              <a:rPr lang="ko-KR" altLang="en-US" sz="1200" b="1" dirty="0">
                <a:solidFill>
                  <a:srgbClr val="C00000"/>
                </a:solidFill>
              </a:rPr>
              <a:t>에서 자동으로 진짜 정보들을 모아서 보여주기</a:t>
            </a:r>
            <a:endParaRPr lang="en-US" altLang="ko-KR" sz="1200" b="1" dirty="0">
              <a:solidFill>
                <a:srgbClr val="C00000"/>
              </a:solidFill>
            </a:endParaRPr>
          </a:p>
          <a:p>
            <a:endParaRPr lang="en-US" sz="1100" b="1" dirty="0">
              <a:solidFill>
                <a:srgbClr val="A5A5A5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ko-KR" altLang="en-US" sz="11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구체적인 작동방식 </a:t>
            </a:r>
            <a:r>
              <a:rPr lang="en-US" altLang="ko-KR" sz="11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sz="11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</a:t>
            </a:r>
            <a:r>
              <a:rPr lang="en-US" altLang="ko-KR" sz="11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lang="ko-KR" altLang="en-US" sz="11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파리 여행 </a:t>
            </a:r>
            <a:r>
              <a:rPr lang="ko-KR" altLang="en-US" sz="1100" b="1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피드를</a:t>
            </a:r>
            <a:r>
              <a:rPr lang="ko-KR" altLang="en-US" sz="11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작성할 때</a:t>
            </a:r>
            <a:r>
              <a:rPr lang="en-US" altLang="ko-KR" sz="11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</a:p>
          <a:p>
            <a:endParaRPr lang="en-US" altLang="ko-KR" sz="11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en-US" sz="11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</a:t>
            </a:r>
            <a:r>
              <a:rPr lang="ko-KR" altLang="en-US" sz="11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</a:t>
            </a:r>
            <a:r>
              <a:rPr lang="ko-KR" altLang="en-US" sz="1100" b="1" dirty="0" err="1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피드를</a:t>
            </a:r>
            <a:r>
              <a:rPr lang="ko-KR" altLang="en-US" sz="11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 작성한다</a:t>
            </a:r>
            <a:r>
              <a:rPr lang="en-US" altLang="ko-KR" sz="11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br>
              <a:rPr lang="en-US" altLang="ko-KR" sz="11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1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입력</a:t>
            </a:r>
            <a:r>
              <a:rPr lang="en-US" altLang="ko-KR" sz="11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“</a:t>
            </a:r>
            <a:r>
              <a:rPr lang="ko-KR" altLang="en-US" sz="11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이번 여름 파리 여행 계획</a:t>
            </a:r>
            <a:r>
              <a:rPr lang="en-US" altLang="ko-KR" sz="11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＂</a:t>
            </a:r>
          </a:p>
          <a:p>
            <a:r>
              <a:rPr 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</a:t>
            </a:r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입력한 텍스트를 기반으로 주요 키워드를 추출 </a:t>
            </a:r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</a:t>
            </a:r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파리</a:t>
            </a:r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여름</a:t>
            </a:r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여행</a:t>
            </a:r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계획</a:t>
            </a:r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,…)</a:t>
            </a:r>
          </a:p>
          <a:p>
            <a:endParaRPr lang="en-US" altLang="ko-KR" sz="1000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en-US" altLang="ko-KR" sz="11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</a:t>
            </a:r>
            <a:r>
              <a:rPr lang="ko-KR" altLang="en-US" sz="11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관련 정보 자동 수집 </a:t>
            </a:r>
            <a:r>
              <a:rPr lang="en-US" altLang="ko-KR" sz="11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&amp; </a:t>
            </a:r>
            <a:r>
              <a:rPr lang="ko-KR" altLang="en-US" sz="11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</a:t>
            </a:r>
            <a:r>
              <a:rPr lang="en-US" altLang="ko-KR" sz="11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sz="11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정보 출처별로 분류</a:t>
            </a:r>
            <a:r>
              <a:rPr lang="en-US" altLang="ko-KR" sz="11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b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a. </a:t>
            </a:r>
            <a:r>
              <a:rPr lang="ko-KR" altLang="en-US" sz="1000" b="1" dirty="0" err="1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인스타그램에서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관련 정보 자동 검색</a:t>
            </a:r>
            <a:b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</a:t>
            </a:r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“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파리 여행</a:t>
            </a:r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 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해시태그 검색 결과를 보여줌</a:t>
            </a:r>
            <a:endParaRPr lang="en-US" altLang="ko-KR" sz="1000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인기 포스팅</a:t>
            </a:r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좋아요 수 기준</a:t>
            </a:r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) 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리스트업</a:t>
            </a:r>
            <a:endParaRPr lang="en-US" altLang="ko-KR" sz="1000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클릭하면 원본 링크로 이동 가능</a:t>
            </a:r>
            <a:endParaRPr lang="en-US" altLang="ko-KR" sz="1000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b. </a:t>
            </a:r>
            <a:r>
              <a:rPr lang="ko-KR" altLang="en-US" sz="10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유튜브에서 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관련 정보 자동 검색</a:t>
            </a:r>
            <a:endParaRPr lang="en-US" altLang="ko-KR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</a:t>
            </a:r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“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파리 여행 </a:t>
            </a:r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Vlog, “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파리 맛집 추천</a:t>
            </a:r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 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 결과를 자동으로 리스트업</a:t>
            </a:r>
            <a:endParaRPr lang="en-US" altLang="ko-KR" sz="1000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조회수 많은 영상</a:t>
            </a:r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좋아요 많은 영상 기준으로 정렬</a:t>
            </a:r>
            <a:endParaRPr lang="en-US" altLang="ko-KR" sz="1000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클릭하면 영상 시청 가능</a:t>
            </a:r>
            <a:endParaRPr lang="en-US" altLang="ko-KR" sz="1000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c.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000" b="1" dirty="0" err="1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구글맵에서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장소 정보 수집</a:t>
            </a:r>
            <a:endParaRPr lang="en-US" altLang="ko-KR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</a:t>
            </a:r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“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파리 여행 추천 장소</a:t>
            </a:r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 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 결과</a:t>
            </a:r>
            <a:endParaRPr lang="en-US" altLang="ko-KR" sz="1000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-KR" altLang="en-US" sz="1000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별점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높은 장소</a:t>
            </a:r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리뷰 많은 장소를 리스트업</a:t>
            </a:r>
            <a:endParaRPr lang="en-US" altLang="ko-KR" sz="1000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클릭하면 지도 보기 또는 상세 정보 보기 가능</a:t>
            </a:r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947089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8">
          <a:extLst>
            <a:ext uri="{FF2B5EF4-FFF2-40B4-BE49-F238E27FC236}">
              <a16:creationId xmlns:a16="http://schemas.microsoft.com/office/drawing/2014/main" id="{5BB54982-5B3B-BAB4-6EC3-A0D32EAAA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p66">
            <a:extLst>
              <a:ext uri="{FF2B5EF4-FFF2-40B4-BE49-F238E27FC236}">
                <a16:creationId xmlns:a16="http://schemas.microsoft.com/office/drawing/2014/main" id="{946FD4C1-428E-AF59-78F9-8E483CE224E3}"/>
              </a:ext>
            </a:extLst>
          </p:cNvPr>
          <p:cNvSpPr/>
          <p:nvPr/>
        </p:nvSpPr>
        <p:spPr>
          <a:xfrm>
            <a:off x="298904" y="1382844"/>
            <a:ext cx="9262608" cy="5070492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40" name="Google Shape;1840;p66">
            <a:extLst>
              <a:ext uri="{FF2B5EF4-FFF2-40B4-BE49-F238E27FC236}">
                <a16:creationId xmlns:a16="http://schemas.microsoft.com/office/drawing/2014/main" id="{150F1C6D-709C-F53C-FC55-8A4DD909FB45}"/>
              </a:ext>
            </a:extLst>
          </p:cNvPr>
          <p:cNvSpPr txBox="1"/>
          <p:nvPr/>
        </p:nvSpPr>
        <p:spPr>
          <a:xfrm>
            <a:off x="187324" y="165100"/>
            <a:ext cx="85821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alt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기반 여행 계획 생성 기능 </a:t>
            </a: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경로 추천 </a:t>
            </a: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ko-KR" alt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일정 생성</a:t>
            </a: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lang="ko-KR" altLang="en-US" sz="2000" dirty="0"/>
          </a:p>
        </p:txBody>
      </p:sp>
      <p:sp>
        <p:nvSpPr>
          <p:cNvPr id="1841" name="Google Shape;1841;p66">
            <a:extLst>
              <a:ext uri="{FF2B5EF4-FFF2-40B4-BE49-F238E27FC236}">
                <a16:creationId xmlns:a16="http://schemas.microsoft.com/office/drawing/2014/main" id="{CD888429-0B06-04FD-1AF3-D1B2D4E98E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8904" y="692696"/>
            <a:ext cx="9262608" cy="54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lgun Gothic"/>
              <a:buNone/>
            </a:pPr>
            <a:r>
              <a:rPr lang="ko-KR" altLang="en-US" dirty="0"/>
              <a:t>프로세스</a:t>
            </a:r>
            <a:endParaRPr dirty="0"/>
          </a:p>
        </p:txBody>
      </p:sp>
      <p:sp>
        <p:nvSpPr>
          <p:cNvPr id="1842" name="Google Shape;1842;p66">
            <a:extLst>
              <a:ext uri="{FF2B5EF4-FFF2-40B4-BE49-F238E27FC236}">
                <a16:creationId xmlns:a16="http://schemas.microsoft.com/office/drawing/2014/main" id="{5E86FC98-39B7-F0E3-1284-A44CFF78A101}"/>
              </a:ext>
            </a:extLst>
          </p:cNvPr>
          <p:cNvSpPr txBox="1"/>
          <p:nvPr/>
        </p:nvSpPr>
        <p:spPr>
          <a:xfrm>
            <a:off x="7761312" y="160338"/>
            <a:ext cx="1871638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시스템 개요</a:t>
            </a:r>
            <a:endParaRPr/>
          </a:p>
        </p:txBody>
      </p:sp>
      <p:sp>
        <p:nvSpPr>
          <p:cNvPr id="4" name="Google Shape;1846;p66">
            <a:extLst>
              <a:ext uri="{FF2B5EF4-FFF2-40B4-BE49-F238E27FC236}">
                <a16:creationId xmlns:a16="http://schemas.microsoft.com/office/drawing/2014/main" id="{A386F0F9-14AC-2D9A-D529-A0140DAC8F3B}"/>
              </a:ext>
            </a:extLst>
          </p:cNvPr>
          <p:cNvSpPr txBox="1"/>
          <p:nvPr/>
        </p:nvSpPr>
        <p:spPr>
          <a:xfrm>
            <a:off x="2583475" y="5575118"/>
            <a:ext cx="6949261" cy="842145"/>
          </a:xfrm>
          <a:prstGeom prst="rect">
            <a:avLst/>
          </a:prstGeom>
          <a:noFill/>
          <a:ln w="19050" cap="flat" cmpd="sng">
            <a:solidFill>
              <a:srgbClr val="D8D8D8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1.“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 경로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 (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lang="ko-KR" altLang="en-US" sz="1000" b="1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루부르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박물관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Wingdings" panose="05000000000000000000" pitchFamily="2" charset="2"/>
              </a:rPr>
              <a:t></a:t>
            </a:r>
            <a:r>
              <a:rPr lang="ko-KR" altLang="en-US" sz="1000" b="1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Wingdings" panose="05000000000000000000" pitchFamily="2" charset="2"/>
              </a:rPr>
              <a:t>노트르담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Wingdings" panose="05000000000000000000" pitchFamily="2" charset="2"/>
              </a:rPr>
              <a:t> 대성상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Wingdings" panose="05000000000000000000" pitchFamily="2" charset="2"/>
              </a:rPr>
              <a:t></a:t>
            </a:r>
            <a:r>
              <a:rPr lang="ko-KR" altLang="en-US" sz="1000" b="1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Wingdings" panose="05000000000000000000" pitchFamily="2" charset="2"/>
              </a:rPr>
              <a:t>에펠탑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Wingdings" panose="05000000000000000000" pitchFamily="2" charset="2"/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Wingdings" panose="05000000000000000000" pitchFamily="2" charset="2"/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Wingdings" panose="05000000000000000000" pitchFamily="2" charset="2"/>
              </a:rPr>
              <a:t>알고리즘 기준 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Wingdings" panose="05000000000000000000" pitchFamily="2" charset="2"/>
              </a:rPr>
              <a:t>Prompt 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Wingdings" panose="05000000000000000000" pitchFamily="2" charset="2"/>
              </a:rPr>
              <a:t>수립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Wingdings" panose="05000000000000000000" pitchFamily="2" charset="2"/>
              </a:rPr>
              <a:t>)) </a:t>
            </a:r>
            <a:r>
              <a:rPr lang="ko-KR" altLang="en-US" sz="1000" b="1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Wingdings" panose="05000000000000000000" pitchFamily="2" charset="2"/>
              </a:rPr>
              <a:t>구글맵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Wingdings" panose="05000000000000000000" pitchFamily="2" charset="2"/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Wingdings" panose="05000000000000000000" pitchFamily="2" charset="2"/>
              </a:rPr>
              <a:t>Pin Point</a:t>
            </a:r>
            <a:endParaRPr lang="en-US" altLang="ko-KR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2.“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 맛집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 (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현지인이 추천하는 파리 카페 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곳 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알고리즘 기준은 텍스트입력이나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Default Prompt 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수립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</a:p>
          <a:p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3.“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유튜브 리뷰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” 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Wingdings" panose="05000000000000000000" pitchFamily="2" charset="2"/>
              </a:rPr>
              <a:t> </a:t>
            </a:r>
            <a:r>
              <a:rPr lang="en-US" altLang="ko-KR" sz="1000" dirty="0"/>
              <a:t>“</a:t>
            </a:r>
            <a:r>
              <a:rPr lang="ko-KR" altLang="en-US" sz="1000" dirty="0"/>
              <a:t>파리 </a:t>
            </a:r>
            <a:r>
              <a:rPr lang="en-US" altLang="ko-KR" sz="1000" dirty="0"/>
              <a:t>3</a:t>
            </a:r>
            <a:r>
              <a:rPr lang="ko-KR" altLang="en-US" sz="1000" dirty="0"/>
              <a:t>일 여행 </a:t>
            </a:r>
            <a:r>
              <a:rPr lang="en-US" altLang="ko-KR" sz="1000" dirty="0"/>
              <a:t>Vlog”, “</a:t>
            </a:r>
            <a:r>
              <a:rPr lang="ko-KR" altLang="en-US" sz="1000" dirty="0"/>
              <a:t>파리 맛집 투어</a:t>
            </a:r>
            <a:r>
              <a:rPr lang="en-US" altLang="ko-KR" sz="1000" dirty="0"/>
              <a:t>＂</a:t>
            </a:r>
            <a:endParaRPr lang="en-US" altLang="ko-KR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4.“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인스타그램 인기 포스팅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” 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Wingdings" panose="05000000000000000000" pitchFamily="2" charset="2"/>
              </a:rPr>
              <a:t> </a:t>
            </a:r>
            <a:r>
              <a:rPr lang="en-US" altLang="ko-KR" sz="1000" dirty="0"/>
              <a:t>“#</a:t>
            </a:r>
            <a:r>
              <a:rPr lang="en-US" altLang="ko-KR" sz="1000" dirty="0" err="1"/>
              <a:t>ParisTravel</a:t>
            </a:r>
            <a:r>
              <a:rPr lang="ko-KR" altLang="en-US" sz="1000" dirty="0"/>
              <a:t> </a:t>
            </a:r>
            <a:r>
              <a:rPr lang="en-US" altLang="ko-KR" sz="1000" dirty="0"/>
              <a:t>#EiffelTower</a:t>
            </a:r>
            <a:r>
              <a:rPr lang="ko-KR" altLang="en-US" sz="1000" dirty="0"/>
              <a:t> </a:t>
            </a:r>
            <a:r>
              <a:rPr lang="en-US" altLang="ko-KR" sz="1000" dirty="0"/>
              <a:t>#ParisCafe”</a:t>
            </a:r>
            <a:endParaRPr lang="en-US" altLang="ko-KR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5.”</a:t>
            </a:r>
            <a:r>
              <a:rPr lang="ko-KR" altLang="en-US" sz="1000" b="1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구글맵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정보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 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Wingdings" panose="05000000000000000000" pitchFamily="2" charset="2"/>
              </a:rPr>
              <a:t> </a:t>
            </a:r>
            <a:r>
              <a:rPr lang="en-US" altLang="ko-KR" sz="1000" dirty="0"/>
              <a:t>“</a:t>
            </a:r>
            <a:r>
              <a:rPr lang="ko-KR" altLang="en-US" sz="1000" dirty="0" err="1"/>
              <a:t>별점</a:t>
            </a:r>
            <a:r>
              <a:rPr lang="ko-KR" altLang="en-US" sz="1000" dirty="0"/>
              <a:t> </a:t>
            </a:r>
            <a:r>
              <a:rPr lang="en-US" altLang="ko-KR" sz="1000" dirty="0"/>
              <a:t>4.5 </a:t>
            </a:r>
            <a:r>
              <a:rPr lang="ko-KR" altLang="en-US" sz="1000" dirty="0"/>
              <a:t>이상의 파리 카페 리스트</a:t>
            </a:r>
            <a:r>
              <a:rPr lang="en-US" altLang="ko-KR" sz="1000" dirty="0"/>
              <a:t>＂</a:t>
            </a:r>
            <a:endParaRPr lang="ko-KR" altLang="en-US" sz="1000" dirty="0"/>
          </a:p>
        </p:txBody>
      </p:sp>
      <p:sp>
        <p:nvSpPr>
          <p:cNvPr id="2" name="Google Shape;216;p5">
            <a:extLst>
              <a:ext uri="{FF2B5EF4-FFF2-40B4-BE49-F238E27FC236}">
                <a16:creationId xmlns:a16="http://schemas.microsoft.com/office/drawing/2014/main" id="{3198C391-B429-9556-6D08-C58864047DA6}"/>
              </a:ext>
            </a:extLst>
          </p:cNvPr>
          <p:cNvSpPr/>
          <p:nvPr/>
        </p:nvSpPr>
        <p:spPr>
          <a:xfrm>
            <a:off x="4105686" y="1483889"/>
            <a:ext cx="1649043" cy="447434"/>
          </a:xfrm>
          <a:prstGeom prst="roundRect">
            <a:avLst>
              <a:gd name="adj" fmla="val 16667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chemeClr val="lt1"/>
                </a:solidFill>
                <a:latin typeface="Malgun Gothic"/>
                <a:ea typeface="Malgun Gothic"/>
                <a:sym typeface="Malgun Gothic"/>
              </a:rPr>
              <a:t>나의 여행 계획 </a:t>
            </a:r>
            <a:r>
              <a:rPr lang="en-US" altLang="ko-KR" sz="1050" b="1" dirty="0">
                <a:solidFill>
                  <a:schemeClr val="lt1"/>
                </a:solidFill>
                <a:latin typeface="Malgun Gothic"/>
                <a:ea typeface="Malgun Gothic"/>
                <a:sym typeface="Malgun Gothic"/>
              </a:rPr>
              <a:t>Spot </a:t>
            </a:r>
            <a:r>
              <a:rPr lang="ko-KR" altLang="en-US" sz="1050" b="1" dirty="0">
                <a:solidFill>
                  <a:schemeClr val="lt1"/>
                </a:solidFill>
                <a:latin typeface="Malgun Gothic"/>
                <a:ea typeface="Malgun Gothic"/>
                <a:sym typeface="Malgun Gothic"/>
              </a:rPr>
              <a:t>작성 시작</a:t>
            </a:r>
            <a:endParaRPr dirty="0"/>
          </a:p>
        </p:txBody>
      </p:sp>
      <p:sp>
        <p:nvSpPr>
          <p:cNvPr id="3" name="Google Shape;216;p5">
            <a:extLst>
              <a:ext uri="{FF2B5EF4-FFF2-40B4-BE49-F238E27FC236}">
                <a16:creationId xmlns:a16="http://schemas.microsoft.com/office/drawing/2014/main" id="{EE733C9F-085F-6477-A4EA-0BF7018929F5}"/>
              </a:ext>
            </a:extLst>
          </p:cNvPr>
          <p:cNvSpPr/>
          <p:nvPr/>
        </p:nvSpPr>
        <p:spPr>
          <a:xfrm>
            <a:off x="440349" y="1483889"/>
            <a:ext cx="1649043" cy="447434"/>
          </a:xfrm>
          <a:prstGeom prst="roundRect">
            <a:avLst>
              <a:gd name="adj" fmla="val 16667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chemeClr val="lt1"/>
                </a:solidFill>
                <a:latin typeface="Malgun Gothic"/>
                <a:ea typeface="Malgun Gothic"/>
                <a:sym typeface="Malgun Gothic"/>
              </a:rPr>
              <a:t>텍스트 입력필드</a:t>
            </a:r>
            <a:endParaRPr lang="en-US" altLang="ko-KR" sz="1050" b="1" dirty="0">
              <a:solidFill>
                <a:schemeClr val="lt1"/>
              </a:solidFill>
              <a:latin typeface="Malgun Gothic"/>
              <a:ea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chemeClr val="lt1"/>
                </a:solidFill>
                <a:latin typeface="Malgun Gothic"/>
                <a:ea typeface="Malgun Gothic"/>
                <a:sym typeface="Malgun Gothic"/>
              </a:rPr>
              <a:t>예</a:t>
            </a:r>
            <a:r>
              <a:rPr lang="en-US" altLang="ko-KR" sz="1050" b="1" dirty="0">
                <a:solidFill>
                  <a:schemeClr val="lt1"/>
                </a:solidFill>
                <a:latin typeface="Malgun Gothic"/>
                <a:ea typeface="Malgun Gothic"/>
                <a:sym typeface="Malgun Gothic"/>
              </a:rPr>
              <a:t>: “2</a:t>
            </a:r>
            <a:r>
              <a:rPr lang="ko-KR" altLang="en-US" sz="1050" b="1" dirty="0">
                <a:solidFill>
                  <a:schemeClr val="lt1"/>
                </a:solidFill>
                <a:latin typeface="Malgun Gothic"/>
                <a:ea typeface="Malgun Gothic"/>
                <a:sym typeface="Malgun Gothic"/>
              </a:rPr>
              <a:t>박</a:t>
            </a:r>
            <a:r>
              <a:rPr lang="en-US" altLang="ko-KR" sz="1050" b="1" dirty="0">
                <a:solidFill>
                  <a:schemeClr val="lt1"/>
                </a:solidFill>
                <a:latin typeface="Malgun Gothic"/>
                <a:ea typeface="Malgun Gothic"/>
                <a:sym typeface="Malgun Gothic"/>
              </a:rPr>
              <a:t>3</a:t>
            </a:r>
            <a:r>
              <a:rPr lang="ko-KR" altLang="en-US" sz="1050" b="1" dirty="0">
                <a:solidFill>
                  <a:schemeClr val="lt1"/>
                </a:solidFill>
                <a:latin typeface="Malgun Gothic"/>
                <a:ea typeface="Malgun Gothic"/>
                <a:sym typeface="Malgun Gothic"/>
              </a:rPr>
              <a:t>일 파리 여행</a:t>
            </a:r>
            <a:r>
              <a:rPr lang="en-US" altLang="ko-KR" sz="1050" b="1" dirty="0">
                <a:solidFill>
                  <a:schemeClr val="lt1"/>
                </a:solidFill>
                <a:latin typeface="Malgun Gothic"/>
                <a:ea typeface="Malgun Gothic"/>
                <a:sym typeface="Malgun Gothic"/>
              </a:rPr>
              <a:t>”</a:t>
            </a:r>
            <a:endParaRPr lang="ko-KR" altLang="en-US" dirty="0"/>
          </a:p>
        </p:txBody>
      </p:sp>
      <p:sp>
        <p:nvSpPr>
          <p:cNvPr id="6" name="Google Shape;216;p5">
            <a:extLst>
              <a:ext uri="{FF2B5EF4-FFF2-40B4-BE49-F238E27FC236}">
                <a16:creationId xmlns:a16="http://schemas.microsoft.com/office/drawing/2014/main" id="{DFAE92A1-7BE9-B7E5-D12E-035F763FE020}"/>
              </a:ext>
            </a:extLst>
          </p:cNvPr>
          <p:cNvSpPr/>
          <p:nvPr/>
        </p:nvSpPr>
        <p:spPr>
          <a:xfrm>
            <a:off x="440350" y="2572584"/>
            <a:ext cx="1649043" cy="447434"/>
          </a:xfrm>
          <a:prstGeom prst="roundRect">
            <a:avLst>
              <a:gd name="adj" fmla="val 16667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50" b="1" dirty="0">
                <a:solidFill>
                  <a:schemeClr val="lt1"/>
                </a:solidFill>
                <a:latin typeface="Malgun Gothic"/>
                <a:ea typeface="Malgun Gothic"/>
                <a:sym typeface="Malgun Gothic"/>
              </a:rPr>
              <a:t>AI </a:t>
            </a:r>
            <a:r>
              <a:rPr lang="ko-KR" altLang="en-US" sz="1050" b="1" dirty="0">
                <a:solidFill>
                  <a:schemeClr val="lt1"/>
                </a:solidFill>
                <a:latin typeface="Malgun Gothic"/>
                <a:ea typeface="Malgun Gothic"/>
                <a:sym typeface="Malgun Gothic"/>
              </a:rPr>
              <a:t>추천 버튼 클릭</a:t>
            </a:r>
            <a:endParaRPr lang="ko-KR" altLang="en-US" dirty="0"/>
          </a:p>
        </p:txBody>
      </p:sp>
      <p:sp>
        <p:nvSpPr>
          <p:cNvPr id="8" name="Google Shape;216;p5">
            <a:extLst>
              <a:ext uri="{FF2B5EF4-FFF2-40B4-BE49-F238E27FC236}">
                <a16:creationId xmlns:a16="http://schemas.microsoft.com/office/drawing/2014/main" id="{317583F0-D290-C322-D96D-DDD86FD45988}"/>
              </a:ext>
            </a:extLst>
          </p:cNvPr>
          <p:cNvSpPr/>
          <p:nvPr/>
        </p:nvSpPr>
        <p:spPr>
          <a:xfrm>
            <a:off x="4105685" y="5136320"/>
            <a:ext cx="1649043" cy="447434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chemeClr val="lt1"/>
                </a:solidFill>
                <a:latin typeface="Malgun Gothic"/>
                <a:ea typeface="Malgun Gothic"/>
                <a:sym typeface="Malgun Gothic"/>
              </a:rPr>
              <a:t>추천 정보 리스트 생성</a:t>
            </a:r>
            <a:endParaRPr lang="ko-KR" altLang="en-US" dirty="0"/>
          </a:p>
        </p:txBody>
      </p:sp>
      <p:sp>
        <p:nvSpPr>
          <p:cNvPr id="9" name="Google Shape;216;p5">
            <a:extLst>
              <a:ext uri="{FF2B5EF4-FFF2-40B4-BE49-F238E27FC236}">
                <a16:creationId xmlns:a16="http://schemas.microsoft.com/office/drawing/2014/main" id="{CC699784-3E9F-8C82-7D42-01071D6A4A35}"/>
              </a:ext>
            </a:extLst>
          </p:cNvPr>
          <p:cNvSpPr/>
          <p:nvPr/>
        </p:nvSpPr>
        <p:spPr>
          <a:xfrm>
            <a:off x="444470" y="5136320"/>
            <a:ext cx="1649043" cy="447434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chemeClr val="lt1"/>
                </a:solidFill>
                <a:latin typeface="Malgun Gothic"/>
                <a:ea typeface="Malgun Gothic"/>
                <a:sym typeface="Malgun Gothic"/>
              </a:rPr>
              <a:t>추가 버튼</a:t>
            </a:r>
            <a:endParaRPr lang="en-US" altLang="ko-KR" sz="1050" b="1" dirty="0">
              <a:solidFill>
                <a:schemeClr val="lt1"/>
              </a:solidFill>
              <a:latin typeface="Malgun Gothic"/>
              <a:ea typeface="Malgun Gothic"/>
              <a:sym typeface="Malgun Gothic"/>
            </a:endParaRPr>
          </a:p>
        </p:txBody>
      </p:sp>
      <p:sp>
        <p:nvSpPr>
          <p:cNvPr id="10" name="Google Shape;216;p5">
            <a:extLst>
              <a:ext uri="{FF2B5EF4-FFF2-40B4-BE49-F238E27FC236}">
                <a16:creationId xmlns:a16="http://schemas.microsoft.com/office/drawing/2014/main" id="{B1952934-776A-BF79-ADB0-48531D2A7596}"/>
              </a:ext>
            </a:extLst>
          </p:cNvPr>
          <p:cNvSpPr/>
          <p:nvPr/>
        </p:nvSpPr>
        <p:spPr>
          <a:xfrm>
            <a:off x="444470" y="5948464"/>
            <a:ext cx="1649043" cy="447434"/>
          </a:xfrm>
          <a:prstGeom prst="roundRect">
            <a:avLst>
              <a:gd name="adj" fmla="val 16667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chemeClr val="lt1"/>
                </a:solidFill>
                <a:latin typeface="Malgun Gothic"/>
                <a:ea typeface="Malgun Gothic"/>
                <a:sym typeface="Malgun Gothic"/>
              </a:rPr>
              <a:t>저장 버튼</a:t>
            </a:r>
            <a:endParaRPr lang="en-US" altLang="ko-KR" sz="1050" b="1" dirty="0">
              <a:solidFill>
                <a:schemeClr val="lt1"/>
              </a:solidFill>
              <a:latin typeface="Malgun Gothic"/>
              <a:ea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50" b="1" dirty="0">
                <a:solidFill>
                  <a:schemeClr val="lt1"/>
                </a:solidFill>
                <a:latin typeface="Malgun Gothic"/>
                <a:ea typeface="Malgun Gothic"/>
                <a:sym typeface="Malgun Gothic"/>
              </a:rPr>
              <a:t>(</a:t>
            </a:r>
            <a:r>
              <a:rPr lang="ko-KR" altLang="en-US" sz="1050" b="1" dirty="0" err="1">
                <a:solidFill>
                  <a:schemeClr val="lt1"/>
                </a:solidFill>
                <a:latin typeface="Malgun Gothic"/>
                <a:ea typeface="Malgun Gothic"/>
                <a:sym typeface="Malgun Gothic"/>
              </a:rPr>
              <a:t>스팟</a:t>
            </a:r>
            <a:r>
              <a:rPr lang="ko-KR" altLang="en-US" sz="1050" b="1" dirty="0">
                <a:solidFill>
                  <a:schemeClr val="lt1"/>
                </a:solidFill>
                <a:latin typeface="Malgun Gothic"/>
                <a:ea typeface="Malgun Gothic"/>
                <a:sym typeface="Malgun Gothic"/>
              </a:rPr>
              <a:t> 게시</a:t>
            </a:r>
            <a:r>
              <a:rPr lang="en-US" altLang="ko-KR" sz="1050" b="1" dirty="0">
                <a:solidFill>
                  <a:schemeClr val="lt1"/>
                </a:solidFill>
                <a:latin typeface="Malgun Gothic"/>
                <a:ea typeface="Malgun Gothic"/>
                <a:sym typeface="Malgun Gothic"/>
              </a:rPr>
              <a:t>)</a:t>
            </a:r>
            <a:endParaRPr lang="ko-KR" altLang="en-US" dirty="0"/>
          </a:p>
        </p:txBody>
      </p:sp>
      <p:sp>
        <p:nvSpPr>
          <p:cNvPr id="11" name="Google Shape;1846;p66">
            <a:extLst>
              <a:ext uri="{FF2B5EF4-FFF2-40B4-BE49-F238E27FC236}">
                <a16:creationId xmlns:a16="http://schemas.microsoft.com/office/drawing/2014/main" id="{3654E8C4-4D2F-19F9-E246-5C91F9CF9612}"/>
              </a:ext>
            </a:extLst>
          </p:cNvPr>
          <p:cNvSpPr txBox="1"/>
          <p:nvPr/>
        </p:nvSpPr>
        <p:spPr>
          <a:xfrm>
            <a:off x="460714" y="5567607"/>
            <a:ext cx="2029430" cy="380480"/>
          </a:xfrm>
          <a:prstGeom prst="rect">
            <a:avLst/>
          </a:prstGeom>
          <a:noFill/>
          <a:ln w="19050" cap="flat" cmpd="sng">
            <a:solidFill>
              <a:srgbClr val="D8D8D8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추천 목록에서 마음에 드는 것을 클릭 선택 </a:t>
            </a:r>
            <a:r>
              <a:rPr lang="ko-KR" altLang="en-US" sz="1000" b="1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피드에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추가</a:t>
            </a:r>
            <a:endParaRPr lang="en-US" altLang="ko-KR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" name="Google Shape;1846;p66">
            <a:extLst>
              <a:ext uri="{FF2B5EF4-FFF2-40B4-BE49-F238E27FC236}">
                <a16:creationId xmlns:a16="http://schemas.microsoft.com/office/drawing/2014/main" id="{B91C9A23-EA36-C084-2BFE-3702EE1173F6}"/>
              </a:ext>
            </a:extLst>
          </p:cNvPr>
          <p:cNvSpPr txBox="1"/>
          <p:nvPr/>
        </p:nvSpPr>
        <p:spPr>
          <a:xfrm>
            <a:off x="507024" y="3025366"/>
            <a:ext cx="3283925" cy="226591"/>
          </a:xfrm>
          <a:prstGeom prst="rect">
            <a:avLst/>
          </a:prstGeom>
          <a:noFill/>
          <a:ln w="19050" cap="flat" cmpd="sng">
            <a:solidFill>
              <a:srgbClr val="D8D8D8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키워드 추출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추출을 위한 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 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Prompt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수립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</a:t>
            </a:r>
            <a:endParaRPr lang="en-US" altLang="ko-KR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A4DB9F9E-D011-7781-CA24-F73069ACF892}"/>
              </a:ext>
            </a:extLst>
          </p:cNvPr>
          <p:cNvGraphicFramePr>
            <a:graphicFrameLocks noGrp="1"/>
          </p:cNvGraphicFramePr>
          <p:nvPr/>
        </p:nvGraphicFramePr>
        <p:xfrm>
          <a:off x="507025" y="3320374"/>
          <a:ext cx="1649043" cy="1402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8375">
                  <a:extLst>
                    <a:ext uri="{9D8B030D-6E8A-4147-A177-3AD203B41FA5}">
                      <a16:colId xmlns:a16="http://schemas.microsoft.com/office/drawing/2014/main" val="3824550534"/>
                    </a:ext>
                  </a:extLst>
                </a:gridCol>
                <a:gridCol w="860668">
                  <a:extLst>
                    <a:ext uri="{9D8B030D-6E8A-4147-A177-3AD203B41FA5}">
                      <a16:colId xmlns:a16="http://schemas.microsoft.com/office/drawing/2014/main" val="3256906223"/>
                    </a:ext>
                  </a:extLst>
                </a:gridCol>
              </a:tblGrid>
              <a:tr h="1228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추출기준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추출 예시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551103"/>
                  </a:ext>
                </a:extLst>
              </a:tr>
              <a:tr h="1228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위치</a:t>
                      </a:r>
                      <a:r>
                        <a:rPr lang="en-US" altLang="ko-KR" sz="700" dirty="0"/>
                        <a:t>,</a:t>
                      </a:r>
                      <a:r>
                        <a:rPr lang="ko-KR" altLang="en-US" sz="700" dirty="0"/>
                        <a:t>지역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파리</a:t>
                      </a:r>
                      <a:r>
                        <a:rPr lang="en-US" altLang="ko-KR" sz="700" dirty="0"/>
                        <a:t>, </a:t>
                      </a:r>
                      <a:r>
                        <a:rPr lang="ko-KR" altLang="en-US" sz="700" dirty="0"/>
                        <a:t>파리지역</a:t>
                      </a:r>
                      <a:endParaRPr lang="en-US" altLang="ko-KR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022362"/>
                  </a:ext>
                </a:extLst>
              </a:tr>
              <a:tr h="1228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계절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strike="noStrike" dirty="0"/>
                        <a:t>여름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371554"/>
                  </a:ext>
                </a:extLst>
              </a:tr>
              <a:tr h="1228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계획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기간</a:t>
                      </a:r>
                      <a:r>
                        <a:rPr lang="en-US" altLang="ko-KR" sz="700" dirty="0"/>
                        <a:t>, 2</a:t>
                      </a:r>
                      <a:r>
                        <a:rPr lang="ko-KR" altLang="en-US" sz="700" dirty="0"/>
                        <a:t>박</a:t>
                      </a:r>
                      <a:r>
                        <a:rPr lang="en-US" altLang="ko-KR" sz="700" dirty="0"/>
                        <a:t>3</a:t>
                      </a:r>
                      <a:r>
                        <a:rPr lang="ko-KR" altLang="en-US" sz="700" dirty="0"/>
                        <a:t>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293284"/>
                  </a:ext>
                </a:extLst>
              </a:tr>
              <a:tr h="1228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사람</a:t>
                      </a:r>
                      <a:r>
                        <a:rPr lang="en-US" altLang="ko-KR" sz="700" dirty="0"/>
                        <a:t>,</a:t>
                      </a:r>
                      <a:r>
                        <a:rPr lang="ko-KR" altLang="en-US" sz="700" dirty="0"/>
                        <a:t>인원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“</a:t>
                      </a:r>
                      <a:r>
                        <a:rPr lang="ko-KR" altLang="en-US" sz="700" dirty="0"/>
                        <a:t>친구와</a:t>
                      </a:r>
                      <a:r>
                        <a:rPr lang="en-US" altLang="ko-KR" sz="700" dirty="0"/>
                        <a:t>”</a:t>
                      </a:r>
                      <a:r>
                        <a:rPr lang="ko-KR" altLang="en-US" sz="700" dirty="0"/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016166"/>
                  </a:ext>
                </a:extLst>
              </a:tr>
              <a:tr h="1228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목적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“</a:t>
                      </a:r>
                      <a:r>
                        <a:rPr lang="ko-KR" altLang="en-US" sz="700" dirty="0"/>
                        <a:t>자유 여행</a:t>
                      </a:r>
                      <a:r>
                        <a:rPr lang="en-US" altLang="ko-KR" sz="700" dirty="0"/>
                        <a:t>＂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837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…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962996"/>
                  </a:ext>
                </a:extLst>
              </a:tr>
            </a:tbl>
          </a:graphicData>
        </a:graphic>
      </p:graphicFrame>
      <p:sp>
        <p:nvSpPr>
          <p:cNvPr id="14" name="Google Shape;1846;p66">
            <a:extLst>
              <a:ext uri="{FF2B5EF4-FFF2-40B4-BE49-F238E27FC236}">
                <a16:creationId xmlns:a16="http://schemas.microsoft.com/office/drawing/2014/main" id="{91CF627B-15D8-158D-7533-A79D0E00DDA0}"/>
              </a:ext>
            </a:extLst>
          </p:cNvPr>
          <p:cNvSpPr txBox="1"/>
          <p:nvPr/>
        </p:nvSpPr>
        <p:spPr>
          <a:xfrm>
            <a:off x="2156068" y="2768650"/>
            <a:ext cx="1634881" cy="226591"/>
          </a:xfrm>
          <a:prstGeom prst="rect">
            <a:avLst/>
          </a:prstGeom>
          <a:noFill/>
          <a:ln w="19050" cap="flat" cmpd="sng">
            <a:solidFill>
              <a:srgbClr val="D8D8D8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정보 분석</a:t>
            </a:r>
            <a:endParaRPr lang="en-US" altLang="ko-KR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" name="Google Shape;216;p5">
            <a:extLst>
              <a:ext uri="{FF2B5EF4-FFF2-40B4-BE49-F238E27FC236}">
                <a16:creationId xmlns:a16="http://schemas.microsoft.com/office/drawing/2014/main" id="{83B08A59-6B63-3583-32A0-AA941C2AFB80}"/>
              </a:ext>
            </a:extLst>
          </p:cNvPr>
          <p:cNvSpPr/>
          <p:nvPr/>
        </p:nvSpPr>
        <p:spPr>
          <a:xfrm>
            <a:off x="4105686" y="2566857"/>
            <a:ext cx="1649043" cy="447434"/>
          </a:xfrm>
          <a:prstGeom prst="roundRect">
            <a:avLst>
              <a:gd name="adj" fmla="val 16667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chemeClr val="lt1"/>
                </a:solidFill>
                <a:latin typeface="Malgun Gothic"/>
                <a:ea typeface="Malgun Gothic"/>
                <a:sym typeface="Malgun Gothic"/>
              </a:rPr>
              <a:t>관련정보 자동 수집</a:t>
            </a:r>
            <a:endParaRPr dirty="0"/>
          </a:p>
        </p:txBody>
      </p:sp>
      <p:cxnSp>
        <p:nvCxnSpPr>
          <p:cNvPr id="19" name="Google Shape;224;p5">
            <a:extLst>
              <a:ext uri="{FF2B5EF4-FFF2-40B4-BE49-F238E27FC236}">
                <a16:creationId xmlns:a16="http://schemas.microsoft.com/office/drawing/2014/main" id="{B57FF728-41A6-3268-2852-CB4CDFF38C39}"/>
              </a:ext>
            </a:extLst>
          </p:cNvPr>
          <p:cNvCxnSpPr>
            <a:cxnSpLocks/>
            <a:stCxn id="6" idx="0"/>
            <a:endCxn id="3" idx="2"/>
          </p:cNvCxnSpPr>
          <p:nvPr/>
        </p:nvCxnSpPr>
        <p:spPr>
          <a:xfrm flipH="1" flipV="1">
            <a:off x="1264871" y="1931323"/>
            <a:ext cx="1" cy="641261"/>
          </a:xfrm>
          <a:prstGeom prst="straightConnector1">
            <a:avLst/>
          </a:prstGeom>
          <a:noFill/>
          <a:ln w="28575" cap="flat" cmpd="sng">
            <a:solidFill>
              <a:srgbClr val="BFBFBF"/>
            </a:solidFill>
            <a:prstDash val="solid"/>
            <a:round/>
            <a:headEnd type="triangle" w="lg" len="lg"/>
            <a:tailEnd type="none" w="sm" len="sm"/>
          </a:ln>
        </p:spPr>
      </p:cxnSp>
      <p:cxnSp>
        <p:nvCxnSpPr>
          <p:cNvPr id="22" name="Google Shape;224;p5">
            <a:extLst>
              <a:ext uri="{FF2B5EF4-FFF2-40B4-BE49-F238E27FC236}">
                <a16:creationId xmlns:a16="http://schemas.microsoft.com/office/drawing/2014/main" id="{7966DCFB-BB4C-F2AC-F710-7EC1690D0B6B}"/>
              </a:ext>
            </a:extLst>
          </p:cNvPr>
          <p:cNvCxnSpPr>
            <a:cxnSpLocks/>
            <a:stCxn id="3" idx="3"/>
            <a:endCxn id="2" idx="1"/>
          </p:cNvCxnSpPr>
          <p:nvPr/>
        </p:nvCxnSpPr>
        <p:spPr>
          <a:xfrm>
            <a:off x="2089392" y="1707606"/>
            <a:ext cx="2016294" cy="0"/>
          </a:xfrm>
          <a:prstGeom prst="straightConnector1">
            <a:avLst/>
          </a:prstGeom>
          <a:noFill/>
          <a:ln w="28575" cap="flat" cmpd="sng">
            <a:solidFill>
              <a:srgbClr val="BFBFBF"/>
            </a:solidFill>
            <a:prstDash val="solid"/>
            <a:round/>
            <a:headEnd type="triangle" w="lg" len="lg"/>
            <a:tailEnd type="none" w="sm" len="sm"/>
          </a:ln>
        </p:spPr>
      </p:cxnSp>
      <p:cxnSp>
        <p:nvCxnSpPr>
          <p:cNvPr id="25" name="Google Shape;224;p5">
            <a:extLst>
              <a:ext uri="{FF2B5EF4-FFF2-40B4-BE49-F238E27FC236}">
                <a16:creationId xmlns:a16="http://schemas.microsoft.com/office/drawing/2014/main" id="{01531D73-7F33-1960-23C0-318A09239714}"/>
              </a:ext>
            </a:extLst>
          </p:cNvPr>
          <p:cNvCxnSpPr>
            <a:cxnSpLocks/>
            <a:stCxn id="15" idx="1"/>
            <a:endCxn id="6" idx="3"/>
          </p:cNvCxnSpPr>
          <p:nvPr/>
        </p:nvCxnSpPr>
        <p:spPr>
          <a:xfrm flipH="1">
            <a:off x="2089393" y="2790574"/>
            <a:ext cx="2016293" cy="5727"/>
          </a:xfrm>
          <a:prstGeom prst="straightConnector1">
            <a:avLst/>
          </a:prstGeom>
          <a:noFill/>
          <a:ln w="28575" cap="flat" cmpd="sng">
            <a:solidFill>
              <a:srgbClr val="BFBFBF"/>
            </a:solidFill>
            <a:prstDash val="solid"/>
            <a:round/>
            <a:headEnd type="triangle" w="lg" len="lg"/>
            <a:tailEnd type="none" w="sm" len="sm"/>
          </a:ln>
        </p:spPr>
      </p:cxn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13F164CF-348B-1C4A-CDAE-E0D456722AC2}"/>
              </a:ext>
            </a:extLst>
          </p:cNvPr>
          <p:cNvGraphicFramePr>
            <a:graphicFrameLocks noGrp="1"/>
          </p:cNvGraphicFramePr>
          <p:nvPr/>
        </p:nvGraphicFramePr>
        <p:xfrm>
          <a:off x="5765397" y="2997969"/>
          <a:ext cx="3188020" cy="121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5320">
                  <a:extLst>
                    <a:ext uri="{9D8B030D-6E8A-4147-A177-3AD203B41FA5}">
                      <a16:colId xmlns:a16="http://schemas.microsoft.com/office/drawing/2014/main" val="3824550534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3256906223"/>
                    </a:ext>
                  </a:extLst>
                </a:gridCol>
              </a:tblGrid>
              <a:tr h="1228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출처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551103"/>
                  </a:ext>
                </a:extLst>
              </a:tr>
              <a:tr h="1228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인스타그램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“</a:t>
                      </a:r>
                      <a:r>
                        <a:rPr lang="ko-KR" altLang="en-US" sz="700" dirty="0"/>
                        <a:t>파리여행</a:t>
                      </a:r>
                      <a:r>
                        <a:rPr lang="en-US" altLang="ko-KR" sz="700" dirty="0"/>
                        <a:t>” </a:t>
                      </a:r>
                      <a:r>
                        <a:rPr lang="ko-KR" altLang="en-US" sz="700" dirty="0"/>
                        <a:t>해시태그 검색 결과</a:t>
                      </a:r>
                      <a:r>
                        <a:rPr lang="en-US" altLang="ko-KR" sz="700" dirty="0"/>
                        <a:t>, </a:t>
                      </a:r>
                      <a:r>
                        <a:rPr lang="ko-KR" altLang="en-US" sz="700" dirty="0"/>
                        <a:t>상위</a:t>
                      </a:r>
                      <a:r>
                        <a:rPr lang="en-US" altLang="ko-KR" sz="700" dirty="0"/>
                        <a:t>(</a:t>
                      </a:r>
                      <a:r>
                        <a:rPr lang="ko-KR" altLang="en-US" sz="700" dirty="0"/>
                        <a:t>좋아요 수</a:t>
                      </a:r>
                      <a:r>
                        <a:rPr lang="en-US" altLang="ko-KR" sz="700" dirty="0"/>
                        <a:t>)</a:t>
                      </a:r>
                      <a:r>
                        <a:rPr lang="ko-KR" altLang="en-US" sz="700" dirty="0"/>
                        <a:t>기준</a:t>
                      </a:r>
                      <a:r>
                        <a:rPr lang="en-US" altLang="ko-KR" sz="700" dirty="0"/>
                        <a:t>, </a:t>
                      </a:r>
                      <a:r>
                        <a:rPr lang="ko-KR" altLang="en-US" sz="700" dirty="0"/>
                        <a:t>클릭 시 원본 링크</a:t>
                      </a:r>
                      <a:endParaRPr lang="en-US" altLang="ko-KR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022362"/>
                  </a:ext>
                </a:extLst>
              </a:tr>
              <a:tr h="1228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유튜브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strike="noStrike" dirty="0"/>
                        <a:t>“</a:t>
                      </a:r>
                      <a:r>
                        <a:rPr lang="ko-KR" altLang="en-US" sz="700" strike="noStrike" dirty="0"/>
                        <a:t>파리 여행 </a:t>
                      </a:r>
                      <a:r>
                        <a:rPr lang="en-US" altLang="ko-KR" sz="700" strike="noStrike" dirty="0"/>
                        <a:t>Vlog, </a:t>
                      </a:r>
                      <a:r>
                        <a:rPr lang="ko-KR" altLang="en-US" sz="700" strike="noStrike" dirty="0"/>
                        <a:t>파리 맛집</a:t>
                      </a:r>
                      <a:r>
                        <a:rPr lang="en-US" altLang="ko-KR" sz="700" strike="noStrike" dirty="0"/>
                        <a:t>“ </a:t>
                      </a:r>
                      <a:r>
                        <a:rPr lang="ko-KR" altLang="en-US" sz="700" strike="noStrike" dirty="0"/>
                        <a:t>검색</a:t>
                      </a:r>
                      <a:r>
                        <a:rPr lang="en-US" altLang="ko-KR" sz="700" strike="noStrike" dirty="0"/>
                        <a:t>, </a:t>
                      </a:r>
                      <a:r>
                        <a:rPr lang="ko-KR" altLang="en-US" sz="700" strike="noStrike" dirty="0"/>
                        <a:t>좋아요</a:t>
                      </a:r>
                      <a:r>
                        <a:rPr lang="en-US" altLang="ko-KR" sz="700" strike="noStrike" dirty="0"/>
                        <a:t> </a:t>
                      </a:r>
                      <a:r>
                        <a:rPr lang="ko-KR" altLang="en-US" sz="700" strike="noStrike" dirty="0"/>
                        <a:t>수</a:t>
                      </a:r>
                      <a:r>
                        <a:rPr lang="en-US" altLang="ko-KR" sz="700" strike="noStrike" dirty="0"/>
                        <a:t>, </a:t>
                      </a:r>
                      <a:r>
                        <a:rPr lang="ko-KR" altLang="en-US" sz="700" strike="noStrike" dirty="0" err="1"/>
                        <a:t>클릭시</a:t>
                      </a:r>
                      <a:r>
                        <a:rPr lang="ko-KR" altLang="en-US" sz="700" strike="noStrike" dirty="0"/>
                        <a:t> 링크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371554"/>
                  </a:ext>
                </a:extLst>
              </a:tr>
              <a:tr h="1228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err="1"/>
                        <a:t>구굴맵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“</a:t>
                      </a:r>
                      <a:r>
                        <a:rPr lang="ko-KR" altLang="en-US" sz="700" dirty="0"/>
                        <a:t>파리 여행 추천 장소</a:t>
                      </a:r>
                      <a:r>
                        <a:rPr lang="en-US" altLang="ko-KR" sz="700" dirty="0"/>
                        <a:t>“, </a:t>
                      </a:r>
                      <a:r>
                        <a:rPr lang="ko-KR" altLang="en-US" sz="700" dirty="0" err="1"/>
                        <a:t>별점</a:t>
                      </a:r>
                      <a:r>
                        <a:rPr lang="ko-KR" altLang="en-US" sz="700" dirty="0"/>
                        <a:t> 상위</a:t>
                      </a:r>
                      <a:r>
                        <a:rPr lang="en-US" altLang="ko-KR" sz="700" dirty="0"/>
                        <a:t>, </a:t>
                      </a:r>
                      <a:r>
                        <a:rPr lang="ko-KR" altLang="en-US" sz="700" dirty="0" err="1"/>
                        <a:t>리뷰수</a:t>
                      </a:r>
                      <a:r>
                        <a:rPr lang="en-US" altLang="ko-KR" sz="700" dirty="0"/>
                        <a:t> </a:t>
                      </a:r>
                      <a:r>
                        <a:rPr lang="ko-KR" altLang="en-US" sz="700" dirty="0"/>
                        <a:t>상위</a:t>
                      </a:r>
                      <a:r>
                        <a:rPr lang="en-US" altLang="ko-KR" sz="700" dirty="0"/>
                        <a:t>, </a:t>
                      </a:r>
                      <a:r>
                        <a:rPr lang="ko-KR" altLang="en-US" sz="700" dirty="0" err="1"/>
                        <a:t>클릭시</a:t>
                      </a:r>
                      <a:r>
                        <a:rPr lang="ko-KR" altLang="en-US" sz="700" dirty="0"/>
                        <a:t> 구글 맵 상세 정보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293284"/>
                  </a:ext>
                </a:extLst>
              </a:tr>
              <a:tr h="1228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기타</a:t>
                      </a:r>
                      <a:r>
                        <a:rPr lang="en-US" altLang="ko-KR" sz="700" dirty="0"/>
                        <a:t>…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016166"/>
                  </a:ext>
                </a:extLst>
              </a:tr>
            </a:tbl>
          </a:graphicData>
        </a:graphic>
      </p:graphicFrame>
      <p:sp>
        <p:nvSpPr>
          <p:cNvPr id="34" name="Google Shape;1846;p66">
            <a:extLst>
              <a:ext uri="{FF2B5EF4-FFF2-40B4-BE49-F238E27FC236}">
                <a16:creationId xmlns:a16="http://schemas.microsoft.com/office/drawing/2014/main" id="{11254C3C-4608-A9AC-F487-0844DACE49D4}"/>
              </a:ext>
            </a:extLst>
          </p:cNvPr>
          <p:cNvSpPr txBox="1"/>
          <p:nvPr/>
        </p:nvSpPr>
        <p:spPr>
          <a:xfrm>
            <a:off x="5764988" y="2733450"/>
            <a:ext cx="1649043" cy="226591"/>
          </a:xfrm>
          <a:prstGeom prst="rect">
            <a:avLst/>
          </a:prstGeom>
          <a:noFill/>
          <a:ln w="19050" cap="flat" cmpd="sng">
            <a:solidFill>
              <a:srgbClr val="D8D8D8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정보 출처별 분류</a:t>
            </a:r>
            <a:endParaRPr lang="en-US" altLang="ko-KR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1" name="Google Shape;224;p5">
            <a:extLst>
              <a:ext uri="{FF2B5EF4-FFF2-40B4-BE49-F238E27FC236}">
                <a16:creationId xmlns:a16="http://schemas.microsoft.com/office/drawing/2014/main" id="{20AACFBE-4BD4-0E16-1F2A-85A575E1A458}"/>
              </a:ext>
            </a:extLst>
          </p:cNvPr>
          <p:cNvCxnSpPr>
            <a:cxnSpLocks/>
            <a:stCxn id="9" idx="3"/>
            <a:endCxn id="8" idx="1"/>
          </p:cNvCxnSpPr>
          <p:nvPr/>
        </p:nvCxnSpPr>
        <p:spPr>
          <a:xfrm>
            <a:off x="2093513" y="5360037"/>
            <a:ext cx="2012172" cy="0"/>
          </a:xfrm>
          <a:prstGeom prst="straightConnector1">
            <a:avLst/>
          </a:prstGeom>
          <a:noFill/>
          <a:ln w="28575" cap="flat" cmpd="sng">
            <a:solidFill>
              <a:srgbClr val="BFBFBF"/>
            </a:solidFill>
            <a:prstDash val="solid"/>
            <a:round/>
            <a:headEnd type="triangle" w="lg" len="lg"/>
            <a:tailEnd type="none" w="sm" len="sm"/>
          </a:ln>
        </p:spPr>
      </p:cxnSp>
      <p:cxnSp>
        <p:nvCxnSpPr>
          <p:cNvPr id="63" name="Google Shape;224;p5">
            <a:extLst>
              <a:ext uri="{FF2B5EF4-FFF2-40B4-BE49-F238E27FC236}">
                <a16:creationId xmlns:a16="http://schemas.microsoft.com/office/drawing/2014/main" id="{A255B914-224A-7911-EC48-84E6EAED7C1E}"/>
              </a:ext>
            </a:extLst>
          </p:cNvPr>
          <p:cNvCxnSpPr>
            <a:cxnSpLocks/>
            <a:stCxn id="8" idx="0"/>
            <a:endCxn id="15" idx="2"/>
          </p:cNvCxnSpPr>
          <p:nvPr/>
        </p:nvCxnSpPr>
        <p:spPr>
          <a:xfrm flipV="1">
            <a:off x="4930207" y="3014291"/>
            <a:ext cx="1" cy="2122029"/>
          </a:xfrm>
          <a:prstGeom prst="straightConnector1">
            <a:avLst/>
          </a:prstGeom>
          <a:noFill/>
          <a:ln w="28575" cap="flat" cmpd="sng">
            <a:solidFill>
              <a:srgbClr val="BFBFBF"/>
            </a:solidFill>
            <a:prstDash val="solid"/>
            <a:round/>
            <a:headEnd type="triangle" w="lg" len="lg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050718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8">
          <a:extLst>
            <a:ext uri="{FF2B5EF4-FFF2-40B4-BE49-F238E27FC236}">
              <a16:creationId xmlns:a16="http://schemas.microsoft.com/office/drawing/2014/main" id="{D6A75FCF-70C7-0404-3C8F-7B8122457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p66">
            <a:extLst>
              <a:ext uri="{FF2B5EF4-FFF2-40B4-BE49-F238E27FC236}">
                <a16:creationId xmlns:a16="http://schemas.microsoft.com/office/drawing/2014/main" id="{8BF1A7EA-2514-6FCD-6166-C8F5E307ACC0}"/>
              </a:ext>
            </a:extLst>
          </p:cNvPr>
          <p:cNvSpPr/>
          <p:nvPr/>
        </p:nvSpPr>
        <p:spPr>
          <a:xfrm>
            <a:off x="298904" y="1382844"/>
            <a:ext cx="9262608" cy="5070492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40" name="Google Shape;1840;p66">
            <a:extLst>
              <a:ext uri="{FF2B5EF4-FFF2-40B4-BE49-F238E27FC236}">
                <a16:creationId xmlns:a16="http://schemas.microsoft.com/office/drawing/2014/main" id="{AAC12F87-16AE-114E-5095-AF4FF3F7BDBB}"/>
              </a:ext>
            </a:extLst>
          </p:cNvPr>
          <p:cNvSpPr txBox="1"/>
          <p:nvPr/>
        </p:nvSpPr>
        <p:spPr>
          <a:xfrm>
            <a:off x="187324" y="165100"/>
            <a:ext cx="85821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alt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기반 여행 계획 생성 기능 </a:t>
            </a: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경로 추천 </a:t>
            </a: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ko-KR" alt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일정 생성</a:t>
            </a: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</p:txBody>
      </p:sp>
      <p:sp>
        <p:nvSpPr>
          <p:cNvPr id="1841" name="Google Shape;1841;p66">
            <a:extLst>
              <a:ext uri="{FF2B5EF4-FFF2-40B4-BE49-F238E27FC236}">
                <a16:creationId xmlns:a16="http://schemas.microsoft.com/office/drawing/2014/main" id="{89F469F0-3567-38AB-7AE5-97031926CC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8904" y="692696"/>
            <a:ext cx="9262608" cy="54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lgun Gothic"/>
              <a:buNone/>
            </a:pPr>
            <a:r>
              <a:rPr lang="ko-KR" altLang="en-US" dirty="0"/>
              <a:t>프로세스 설명</a:t>
            </a:r>
          </a:p>
        </p:txBody>
      </p:sp>
      <p:sp>
        <p:nvSpPr>
          <p:cNvPr id="1842" name="Google Shape;1842;p66">
            <a:extLst>
              <a:ext uri="{FF2B5EF4-FFF2-40B4-BE49-F238E27FC236}">
                <a16:creationId xmlns:a16="http://schemas.microsoft.com/office/drawing/2014/main" id="{950390F3-B201-06DF-E35A-DC908236346D}"/>
              </a:ext>
            </a:extLst>
          </p:cNvPr>
          <p:cNvSpPr txBox="1"/>
          <p:nvPr/>
        </p:nvSpPr>
        <p:spPr>
          <a:xfrm>
            <a:off x="7761312" y="160338"/>
            <a:ext cx="1871638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시스템 개요</a:t>
            </a:r>
            <a:endParaRPr/>
          </a:p>
        </p:txBody>
      </p:sp>
      <p:sp>
        <p:nvSpPr>
          <p:cNvPr id="3" name="Google Shape;1846;p66">
            <a:extLst>
              <a:ext uri="{FF2B5EF4-FFF2-40B4-BE49-F238E27FC236}">
                <a16:creationId xmlns:a16="http://schemas.microsoft.com/office/drawing/2014/main" id="{EF640F35-F27A-6BD2-4446-55A6C4F9EF51}"/>
              </a:ext>
            </a:extLst>
          </p:cNvPr>
          <p:cNvSpPr txBox="1"/>
          <p:nvPr/>
        </p:nvSpPr>
        <p:spPr>
          <a:xfrm>
            <a:off x="371202" y="1511308"/>
            <a:ext cx="9118011" cy="4843240"/>
          </a:xfrm>
          <a:prstGeom prst="rect">
            <a:avLst/>
          </a:prstGeom>
          <a:noFill/>
          <a:ln w="19050" cap="flat" cmpd="sng">
            <a:solidFill>
              <a:srgbClr val="D8D8D8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r>
              <a:rPr lang="en-US" altLang="ko-KR" sz="1200" b="1" dirty="0"/>
              <a:t>3. AI</a:t>
            </a:r>
            <a:r>
              <a:rPr lang="ko-KR" altLang="en-US" sz="1200" b="1" dirty="0"/>
              <a:t>추천 정보 리스트 구성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사용자 </a:t>
            </a:r>
            <a:r>
              <a:rPr lang="ko-KR" altLang="en-US" sz="1200" b="1" dirty="0" err="1"/>
              <a:t>피드</a:t>
            </a:r>
            <a:r>
              <a:rPr lang="ko-KR" altLang="en-US" sz="1200" b="1" dirty="0"/>
              <a:t> 작성에 자동 추가 가능</a:t>
            </a:r>
            <a:r>
              <a:rPr lang="en-US" altLang="ko-KR" sz="1200" b="1" dirty="0"/>
              <a:t>)</a:t>
            </a:r>
          </a:p>
          <a:p>
            <a:r>
              <a:rPr lang="ko-KR" altLang="en-US" sz="1100" dirty="0" err="1"/>
              <a:t>예를들어</a:t>
            </a:r>
            <a:r>
              <a:rPr lang="en-US" altLang="ko-KR" sz="1100" dirty="0"/>
              <a:t>, </a:t>
            </a:r>
            <a:r>
              <a:rPr lang="ko-KR" altLang="en-US" sz="1100" dirty="0"/>
              <a:t>사용자가 </a:t>
            </a:r>
            <a:r>
              <a:rPr lang="en-US" altLang="ko-KR" sz="1100" dirty="0"/>
              <a:t>“</a:t>
            </a:r>
            <a:r>
              <a:rPr lang="ko-KR" altLang="en-US" sz="1100" dirty="0"/>
              <a:t>파리 여행 계획하기</a:t>
            </a:r>
            <a:r>
              <a:rPr lang="en-US" altLang="ko-KR" sz="1100" dirty="0"/>
              <a:t>“ </a:t>
            </a:r>
            <a:r>
              <a:rPr lang="ko-KR" altLang="en-US" sz="1100" dirty="0"/>
              <a:t>라고 입력하면</a:t>
            </a:r>
            <a:r>
              <a:rPr lang="en-US" altLang="ko-KR" sz="1100" dirty="0"/>
              <a:t>, </a:t>
            </a:r>
            <a:r>
              <a:rPr lang="ko-KR" altLang="en-US" sz="1100" dirty="0"/>
              <a:t>다음과 같은 정보들이 자동으로 추천됨</a:t>
            </a:r>
            <a:endParaRPr lang="en-US" altLang="ko-KR" sz="1100" dirty="0"/>
          </a:p>
          <a:p>
            <a:endParaRPr lang="en-US" altLang="ko-KR" sz="1100" dirty="0"/>
          </a:p>
          <a:p>
            <a:endParaRPr lang="en-US" altLang="ko-KR" sz="1100" dirty="0"/>
          </a:p>
          <a:p>
            <a:endParaRPr lang="en-US" altLang="ko-KR" sz="1100" dirty="0"/>
          </a:p>
          <a:p>
            <a:endParaRPr lang="en-US" altLang="ko-KR" sz="1100" dirty="0"/>
          </a:p>
          <a:p>
            <a:endParaRPr lang="en-US" altLang="ko-KR" sz="1100" dirty="0"/>
          </a:p>
          <a:p>
            <a:endParaRPr lang="en-US" altLang="ko-KR" sz="1100" dirty="0"/>
          </a:p>
          <a:p>
            <a:endParaRPr lang="en-US" altLang="ko-KR" sz="1100" dirty="0"/>
          </a:p>
          <a:p>
            <a:endParaRPr lang="en-US" altLang="ko-KR" sz="1100" dirty="0"/>
          </a:p>
          <a:p>
            <a:endParaRPr lang="en-US" altLang="ko-KR" sz="1100" dirty="0"/>
          </a:p>
          <a:p>
            <a:endParaRPr lang="en-US" altLang="ko-KR" sz="1100" dirty="0"/>
          </a:p>
          <a:p>
            <a:endParaRPr lang="en-US" altLang="ko-KR" sz="1100" dirty="0"/>
          </a:p>
          <a:p>
            <a:r>
              <a:rPr lang="en-US" altLang="ko-KR" sz="1200" b="1" dirty="0"/>
              <a:t>4. </a:t>
            </a:r>
            <a:r>
              <a:rPr lang="ko-KR" altLang="en-US" sz="1200" b="1" dirty="0"/>
              <a:t>사용자는 추천 정보 중 원하는 것을 선택하여 </a:t>
            </a:r>
            <a:r>
              <a:rPr lang="ko-KR" altLang="en-US" sz="1200" b="1" dirty="0" err="1"/>
              <a:t>피드에</a:t>
            </a:r>
            <a:r>
              <a:rPr lang="ko-KR" altLang="en-US" sz="1200" b="1" dirty="0"/>
              <a:t> 추가 가능</a:t>
            </a:r>
            <a:endParaRPr lang="en-US" altLang="ko-KR" sz="1200" b="1" dirty="0"/>
          </a:p>
          <a:p>
            <a:r>
              <a:rPr lang="ko-KR" altLang="en-US" sz="1100" dirty="0"/>
              <a:t>예를 들어</a:t>
            </a:r>
            <a:r>
              <a:rPr lang="en-US" altLang="ko-KR" sz="1100" dirty="0"/>
              <a:t>, </a:t>
            </a:r>
            <a:r>
              <a:rPr lang="ko-KR" altLang="en-US" sz="1100" dirty="0"/>
              <a:t>사용자가 </a:t>
            </a:r>
            <a:r>
              <a:rPr lang="en-US" altLang="ko-KR" sz="1100" dirty="0"/>
              <a:t>“</a:t>
            </a:r>
            <a:r>
              <a:rPr lang="ko-KR" altLang="en-US" sz="1100" dirty="0" err="1"/>
              <a:t>라뒤레</a:t>
            </a:r>
            <a:r>
              <a:rPr lang="ko-KR" altLang="en-US" sz="1100" dirty="0"/>
              <a:t> 마카롱</a:t>
            </a:r>
            <a:r>
              <a:rPr lang="en-US" altLang="ko-KR" sz="1100" dirty="0"/>
              <a:t>“ </a:t>
            </a:r>
            <a:r>
              <a:rPr lang="ko-KR" altLang="en-US" sz="1100" dirty="0"/>
              <a:t>을 클릭하면 자동으로 </a:t>
            </a:r>
            <a:r>
              <a:rPr lang="ko-KR" altLang="en-US" sz="1100" dirty="0" err="1"/>
              <a:t>피드</a:t>
            </a:r>
            <a:r>
              <a:rPr lang="ko-KR" altLang="en-US" sz="1100" dirty="0"/>
              <a:t> 작성 내용에 포함됨</a:t>
            </a:r>
            <a:endParaRPr lang="en-US" altLang="ko-KR" sz="1100" dirty="0"/>
          </a:p>
          <a:p>
            <a:r>
              <a:rPr lang="ko-KR" altLang="en-US" sz="1100" dirty="0"/>
              <a:t>이렇게 작성된 </a:t>
            </a:r>
            <a:r>
              <a:rPr lang="ko-KR" altLang="en-US" sz="1100" dirty="0" err="1"/>
              <a:t>피드를</a:t>
            </a:r>
            <a:r>
              <a:rPr lang="ko-KR" altLang="en-US" sz="1100" dirty="0"/>
              <a:t> 다른 사용자들과 공유 가능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en-US" altLang="ko-KR" sz="1200" b="1" dirty="0"/>
              <a:t>5. </a:t>
            </a:r>
            <a:r>
              <a:rPr lang="ko-KR" altLang="en-US" sz="1200" b="1" dirty="0" err="1"/>
              <a:t>피드</a:t>
            </a:r>
            <a:r>
              <a:rPr lang="ko-KR" altLang="en-US" sz="1200" b="1" dirty="0"/>
              <a:t> 작성 후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다른 사용자가 볼 수 있는 방식 </a:t>
            </a:r>
            <a:endParaRPr lang="en-US" altLang="ko-KR" sz="1200" b="1" dirty="0"/>
          </a:p>
          <a:p>
            <a:r>
              <a:rPr lang="ko-KR" altLang="en-US" sz="1100" dirty="0"/>
              <a:t>다른 사용자들이 </a:t>
            </a:r>
            <a:r>
              <a:rPr lang="ko-KR" altLang="en-US" sz="1100" dirty="0" err="1"/>
              <a:t>피드를</a:t>
            </a:r>
            <a:r>
              <a:rPr lang="ko-KR" altLang="en-US" sz="1100" dirty="0"/>
              <a:t> 보게 되면</a:t>
            </a:r>
            <a:r>
              <a:rPr lang="en-US" altLang="ko-KR" sz="1100" dirty="0"/>
              <a:t>,</a:t>
            </a:r>
          </a:p>
          <a:p>
            <a:r>
              <a:rPr lang="en-US" altLang="ko-KR" sz="1100" dirty="0"/>
              <a:t> - </a:t>
            </a:r>
            <a:r>
              <a:rPr lang="ko-KR" altLang="en-US" sz="1100" dirty="0"/>
              <a:t>사용자가 추가한 추천 경로</a:t>
            </a:r>
            <a:r>
              <a:rPr lang="en-US" altLang="ko-KR" sz="1100" dirty="0"/>
              <a:t>, </a:t>
            </a:r>
            <a:r>
              <a:rPr lang="ko-KR" altLang="en-US" sz="1100" dirty="0"/>
              <a:t>맛집 정보</a:t>
            </a:r>
            <a:r>
              <a:rPr lang="en-US" altLang="ko-KR" sz="1100" dirty="0"/>
              <a:t>, </a:t>
            </a:r>
            <a:r>
              <a:rPr lang="ko-KR" altLang="en-US" sz="1100" dirty="0"/>
              <a:t>유튜브 영상 등의 링크를 바로 확인 가능</a:t>
            </a:r>
            <a:endParaRPr lang="en-US" altLang="ko-KR" sz="1100" dirty="0"/>
          </a:p>
          <a:p>
            <a:r>
              <a:rPr lang="en-US" altLang="ko-KR" sz="1100" dirty="0"/>
              <a:t> - </a:t>
            </a:r>
            <a:r>
              <a:rPr lang="ko-KR" altLang="en-US" sz="1100" dirty="0"/>
              <a:t>관련 </a:t>
            </a:r>
            <a:r>
              <a:rPr lang="ko-KR" altLang="en-US" sz="1100" dirty="0" err="1"/>
              <a:t>피드가</a:t>
            </a:r>
            <a:r>
              <a:rPr lang="ko-KR" altLang="en-US" sz="1100" dirty="0"/>
              <a:t> 자동으로 추천되기 때문에 커뮤니티 안에서 빠르게 정보 탐색이 가능</a:t>
            </a:r>
            <a:endParaRPr lang="en-US" altLang="ko-KR" sz="1100" dirty="0"/>
          </a:p>
          <a:p>
            <a:endParaRPr lang="en-US" sz="1100" b="1" dirty="0">
              <a:solidFill>
                <a:srgbClr val="A5A5A5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ko-KR" altLang="en-US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핵심</a:t>
            </a:r>
            <a:endParaRPr lang="en-US" altLang="ko-KR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indent="-171450">
              <a:buFontTx/>
              <a:buChar char="-"/>
            </a:pPr>
            <a:r>
              <a:rPr lang="ko-KR" altLang="en-US" sz="11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</a:t>
            </a:r>
            <a:r>
              <a:rPr lang="ko-KR" altLang="en-US" sz="1100" b="1" dirty="0" err="1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피드를</a:t>
            </a:r>
            <a:r>
              <a:rPr lang="ko-KR" altLang="en-US" sz="11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 작성하는 과정에서 </a:t>
            </a:r>
            <a:r>
              <a:rPr lang="en-US" altLang="ko-KR" sz="11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AI</a:t>
            </a:r>
            <a:r>
              <a:rPr lang="ko-KR" altLang="en-US" sz="11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 자동으로 관련 정보들을 추천하는 시스템</a:t>
            </a:r>
            <a:endParaRPr lang="en-US" altLang="ko-KR" sz="1100" b="1" dirty="0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indent="-171450">
              <a:buFontTx/>
              <a:buChar char="-"/>
            </a:pPr>
            <a:r>
              <a:rPr lang="ko-KR" altLang="en-US" sz="11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정보를 쉽게 추가하고 공유할 수 있도록 함</a:t>
            </a:r>
            <a:endParaRPr lang="en-US" altLang="ko-KR" sz="1100" b="1" dirty="0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indent="-171450">
              <a:buFontTx/>
              <a:buChar char="-"/>
            </a:pPr>
            <a:r>
              <a:rPr lang="ko-KR" altLang="en-US" sz="11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올린 </a:t>
            </a:r>
            <a:r>
              <a:rPr lang="ko-KR" altLang="en-US" sz="1100" b="1" dirty="0" err="1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피드는</a:t>
            </a:r>
            <a:r>
              <a:rPr lang="ko-KR" altLang="en-US" sz="11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 다른 사용자들에게도 유용한 정보로 작용</a:t>
            </a:r>
            <a:endParaRPr lang="en-US" altLang="ko-KR" sz="1100" b="1" dirty="0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indent="-171450">
              <a:buFontTx/>
              <a:buChar char="-"/>
            </a:pPr>
            <a:r>
              <a:rPr lang="ko-KR" altLang="en-US" sz="11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정보의 </a:t>
            </a:r>
            <a:r>
              <a:rPr lang="ko-KR" altLang="en-US" sz="1100" b="1" dirty="0" err="1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집합성</a:t>
            </a:r>
            <a:r>
              <a:rPr lang="ko-KR" altLang="en-US" sz="11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1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lang="ko-KR" altLang="en-US" sz="11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여기저기서 정보를 찾지 않아도 됨</a:t>
            </a:r>
            <a:endParaRPr lang="en-US" sz="1000" b="1" dirty="0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EF509A4-2059-1949-F13B-671E33035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297235"/>
              </p:ext>
            </p:extLst>
          </p:nvPr>
        </p:nvGraphicFramePr>
        <p:xfrm>
          <a:off x="416787" y="1926308"/>
          <a:ext cx="5984013" cy="1554480"/>
        </p:xfrm>
        <a:graphic>
          <a:graphicData uri="http://schemas.openxmlformats.org/drawingml/2006/table">
            <a:tbl>
              <a:tblPr firstRow="1" bandRow="1">
                <a:tableStyleId>{6EDC6BCF-486F-47D3-B478-F70685DA3715}</a:tableStyleId>
              </a:tblPr>
              <a:tblGrid>
                <a:gridCol w="1956543">
                  <a:extLst>
                    <a:ext uri="{9D8B030D-6E8A-4147-A177-3AD203B41FA5}">
                      <a16:colId xmlns:a16="http://schemas.microsoft.com/office/drawing/2014/main" val="3824550534"/>
                    </a:ext>
                  </a:extLst>
                </a:gridCol>
                <a:gridCol w="4027470">
                  <a:extLst>
                    <a:ext uri="{9D8B030D-6E8A-4147-A177-3AD203B41FA5}">
                      <a16:colId xmlns:a16="http://schemas.microsoft.com/office/drawing/2014/main" val="3256906223"/>
                    </a:ext>
                  </a:extLst>
                </a:gridCol>
              </a:tblGrid>
              <a:tr h="1336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정보 유형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추천 목록 예시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551103"/>
                  </a:ext>
                </a:extLst>
              </a:tr>
              <a:tr h="1336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경로 추천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“</a:t>
                      </a:r>
                      <a:r>
                        <a:rPr lang="ko-KR" altLang="en-US" sz="1100" dirty="0" err="1"/>
                        <a:t>루브르</a:t>
                      </a:r>
                      <a:r>
                        <a:rPr lang="ko-KR" altLang="en-US" sz="1100" dirty="0"/>
                        <a:t> 박물관 </a:t>
                      </a:r>
                      <a:r>
                        <a:rPr lang="en-US" altLang="ko-KR" sz="110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100" dirty="0" err="1">
                          <a:sym typeface="Wingdings" panose="05000000000000000000" pitchFamily="2" charset="2"/>
                        </a:rPr>
                        <a:t>노트르담</a:t>
                      </a:r>
                      <a:r>
                        <a:rPr lang="ko-KR" altLang="en-US" sz="1100" dirty="0">
                          <a:sym typeface="Wingdings" panose="05000000000000000000" pitchFamily="2" charset="2"/>
                        </a:rPr>
                        <a:t> 대성당 </a:t>
                      </a:r>
                      <a:r>
                        <a:rPr lang="en-US" altLang="ko-KR" sz="110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100" dirty="0" err="1">
                          <a:sym typeface="Wingdings" panose="05000000000000000000" pitchFamily="2" charset="2"/>
                        </a:rPr>
                        <a:t>에펠탑</a:t>
                      </a:r>
                      <a:r>
                        <a:rPr lang="en-US" altLang="ko-KR" sz="1100" dirty="0">
                          <a:sym typeface="Wingdings" panose="05000000000000000000" pitchFamily="2" charset="2"/>
                        </a:rPr>
                        <a:t>＂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7022362"/>
                  </a:ext>
                </a:extLst>
              </a:tr>
              <a:tr h="1336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맛집 추천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“</a:t>
                      </a:r>
                      <a:r>
                        <a:rPr lang="ko-KR" altLang="en-US" sz="1100" dirty="0" err="1"/>
                        <a:t>라뒤레</a:t>
                      </a:r>
                      <a:r>
                        <a:rPr lang="ko-KR" altLang="en-US" sz="1100" dirty="0"/>
                        <a:t> 마카롱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 err="1"/>
                        <a:t>르콩트와</a:t>
                      </a:r>
                      <a:r>
                        <a:rPr lang="ko-KR" altLang="en-US" sz="1100" dirty="0"/>
                        <a:t> </a:t>
                      </a:r>
                      <a:r>
                        <a:rPr lang="ko-KR" altLang="en-US" sz="1100" dirty="0" err="1"/>
                        <a:t>드</a:t>
                      </a:r>
                      <a:r>
                        <a:rPr lang="ko-KR" altLang="en-US" sz="1100" dirty="0"/>
                        <a:t> 릴리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 err="1"/>
                        <a:t>앙젤리나</a:t>
                      </a:r>
                      <a:r>
                        <a:rPr lang="ko-KR" altLang="en-US" sz="1100" dirty="0"/>
                        <a:t> 카페</a:t>
                      </a:r>
                      <a:r>
                        <a:rPr lang="en-US" altLang="ko-KR" sz="1100" dirty="0"/>
                        <a:t>＂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3371554"/>
                  </a:ext>
                </a:extLst>
              </a:tr>
              <a:tr h="1336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유튜브 리뷰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“</a:t>
                      </a:r>
                      <a:r>
                        <a:rPr lang="ko-KR" altLang="en-US" sz="1100" dirty="0"/>
                        <a:t>파리 </a:t>
                      </a:r>
                      <a:r>
                        <a:rPr lang="en-US" altLang="ko-KR" sz="1100" dirty="0"/>
                        <a:t>3</a:t>
                      </a:r>
                      <a:r>
                        <a:rPr lang="ko-KR" altLang="en-US" sz="1100" dirty="0"/>
                        <a:t>일 여행 </a:t>
                      </a:r>
                      <a:r>
                        <a:rPr lang="en-US" altLang="ko-KR" sz="1100" dirty="0"/>
                        <a:t>Vlog”, “</a:t>
                      </a:r>
                      <a:r>
                        <a:rPr lang="ko-KR" altLang="en-US" sz="1100" dirty="0"/>
                        <a:t>파리 맛집 투어</a:t>
                      </a:r>
                      <a:r>
                        <a:rPr lang="en-US" altLang="ko-KR" sz="1100" dirty="0"/>
                        <a:t>＂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8293284"/>
                  </a:ext>
                </a:extLst>
              </a:tr>
              <a:tr h="1336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인스타그램 인기 포스팅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“#</a:t>
                      </a:r>
                      <a:r>
                        <a:rPr lang="en-US" altLang="ko-KR" sz="1100" dirty="0" err="1"/>
                        <a:t>ParisTravel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#EiffelTower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#ParisCafe”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016166"/>
                  </a:ext>
                </a:extLst>
              </a:tr>
              <a:tr h="1336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/>
                        <a:t>구글맵</a:t>
                      </a:r>
                      <a:r>
                        <a:rPr lang="ko-KR" altLang="en-US" sz="1100" dirty="0"/>
                        <a:t>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“</a:t>
                      </a:r>
                      <a:r>
                        <a:rPr lang="ko-KR" altLang="en-US" sz="1100" dirty="0" err="1"/>
                        <a:t>별점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4.5 </a:t>
                      </a:r>
                      <a:r>
                        <a:rPr lang="ko-KR" altLang="en-US" sz="1100" dirty="0"/>
                        <a:t>이상의 파리 카페 리스트</a:t>
                      </a:r>
                      <a:r>
                        <a:rPr lang="en-US" altLang="ko-KR" sz="1100" dirty="0"/>
                        <a:t>＂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378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494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8">
          <a:extLst>
            <a:ext uri="{FF2B5EF4-FFF2-40B4-BE49-F238E27FC236}">
              <a16:creationId xmlns:a16="http://schemas.microsoft.com/office/drawing/2014/main" id="{C84F2768-2577-1990-F1FC-783A21B9D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p66">
            <a:extLst>
              <a:ext uri="{FF2B5EF4-FFF2-40B4-BE49-F238E27FC236}">
                <a16:creationId xmlns:a16="http://schemas.microsoft.com/office/drawing/2014/main" id="{978AD694-BB55-B919-F96C-18EF91E3780A}"/>
              </a:ext>
            </a:extLst>
          </p:cNvPr>
          <p:cNvSpPr/>
          <p:nvPr/>
        </p:nvSpPr>
        <p:spPr>
          <a:xfrm>
            <a:off x="298904" y="1382844"/>
            <a:ext cx="9262608" cy="5070492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40" name="Google Shape;1840;p66">
            <a:extLst>
              <a:ext uri="{FF2B5EF4-FFF2-40B4-BE49-F238E27FC236}">
                <a16:creationId xmlns:a16="http://schemas.microsoft.com/office/drawing/2014/main" id="{7D1AF581-B776-6534-B95F-855715ABE091}"/>
              </a:ext>
            </a:extLst>
          </p:cNvPr>
          <p:cNvSpPr txBox="1"/>
          <p:nvPr/>
        </p:nvSpPr>
        <p:spPr>
          <a:xfrm>
            <a:off x="187324" y="165100"/>
            <a:ext cx="85821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alt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기반 여행 계획 생성 기능 </a:t>
            </a: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경로 추천 </a:t>
            </a: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ko-KR" alt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일정 생성</a:t>
            </a: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</p:txBody>
      </p:sp>
      <p:sp>
        <p:nvSpPr>
          <p:cNvPr id="1841" name="Google Shape;1841;p66">
            <a:extLst>
              <a:ext uri="{FF2B5EF4-FFF2-40B4-BE49-F238E27FC236}">
                <a16:creationId xmlns:a16="http://schemas.microsoft.com/office/drawing/2014/main" id="{F8629D82-4304-FBA0-4280-ABDB89A3CC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8904" y="692696"/>
            <a:ext cx="9262608" cy="54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lgun Gothic"/>
              <a:buNone/>
            </a:pPr>
            <a:r>
              <a:rPr lang="ko-KR" altLang="en-US" dirty="0"/>
              <a:t>프로세스 설명</a:t>
            </a:r>
          </a:p>
        </p:txBody>
      </p:sp>
      <p:sp>
        <p:nvSpPr>
          <p:cNvPr id="1842" name="Google Shape;1842;p66">
            <a:extLst>
              <a:ext uri="{FF2B5EF4-FFF2-40B4-BE49-F238E27FC236}">
                <a16:creationId xmlns:a16="http://schemas.microsoft.com/office/drawing/2014/main" id="{55667B0A-8CE1-EDF3-A703-57912C28E88E}"/>
              </a:ext>
            </a:extLst>
          </p:cNvPr>
          <p:cNvSpPr txBox="1"/>
          <p:nvPr/>
        </p:nvSpPr>
        <p:spPr>
          <a:xfrm>
            <a:off x="7761312" y="160338"/>
            <a:ext cx="1871638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시스템 개요</a:t>
            </a:r>
            <a:endParaRPr/>
          </a:p>
        </p:txBody>
      </p:sp>
      <p:sp>
        <p:nvSpPr>
          <p:cNvPr id="3" name="Google Shape;1846;p66">
            <a:extLst>
              <a:ext uri="{FF2B5EF4-FFF2-40B4-BE49-F238E27FC236}">
                <a16:creationId xmlns:a16="http://schemas.microsoft.com/office/drawing/2014/main" id="{D0C37390-8C69-4F64-4EB2-C62791021A7B}"/>
              </a:ext>
            </a:extLst>
          </p:cNvPr>
          <p:cNvSpPr txBox="1"/>
          <p:nvPr/>
        </p:nvSpPr>
        <p:spPr>
          <a:xfrm>
            <a:off x="371202" y="1511308"/>
            <a:ext cx="9118011" cy="1072977"/>
          </a:xfrm>
          <a:prstGeom prst="rect">
            <a:avLst/>
          </a:prstGeom>
          <a:noFill/>
          <a:ln w="19050" cap="flat" cmpd="sng">
            <a:solidFill>
              <a:srgbClr val="D8D8D8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>
              <a:buNone/>
            </a:pPr>
            <a:r>
              <a:rPr lang="ko-KR" altLang="en-US" sz="1100" b="1" dirty="0"/>
              <a:t>이 방식의 장점</a:t>
            </a:r>
            <a:r>
              <a:rPr lang="en-US" altLang="ko-KR" sz="1100" b="1" dirty="0"/>
              <a:t>:</a:t>
            </a:r>
          </a:p>
          <a:p>
            <a:pPr>
              <a:buFont typeface="+mj-lt"/>
              <a:buAutoNum type="arabicPeriod"/>
            </a:pPr>
            <a:r>
              <a:rPr lang="ko-KR" altLang="en-US" sz="1100" b="1" dirty="0">
                <a:solidFill>
                  <a:srgbClr val="0070C0"/>
                </a:solidFill>
              </a:rPr>
              <a:t>단순히 추천 </a:t>
            </a:r>
            <a:r>
              <a:rPr lang="ko-KR" altLang="en-US" sz="1100" b="1" dirty="0" err="1">
                <a:solidFill>
                  <a:srgbClr val="0070C0"/>
                </a:solidFill>
              </a:rPr>
              <a:t>피드를</a:t>
            </a:r>
            <a:r>
              <a:rPr lang="ko-KR" altLang="en-US" sz="1100" b="1" dirty="0">
                <a:solidFill>
                  <a:srgbClr val="0070C0"/>
                </a:solidFill>
              </a:rPr>
              <a:t> 보여주는 게 아니라</a:t>
            </a:r>
            <a:r>
              <a:rPr lang="en-US" altLang="ko-KR" sz="1100" b="1" dirty="0">
                <a:solidFill>
                  <a:srgbClr val="0070C0"/>
                </a:solidFill>
              </a:rPr>
              <a:t>, </a:t>
            </a:r>
            <a:r>
              <a:rPr lang="ko-KR" altLang="en-US" sz="1100" b="1" dirty="0">
                <a:solidFill>
                  <a:srgbClr val="0070C0"/>
                </a:solidFill>
              </a:rPr>
              <a:t>사용자가 정보를 작성할 때 직접적인 도움을 줌</a:t>
            </a:r>
            <a:r>
              <a:rPr lang="en-US" altLang="ko-KR" sz="1100" b="1" dirty="0">
                <a:solidFill>
                  <a:srgbClr val="0070C0"/>
                </a:solidFill>
              </a:rPr>
              <a:t>.</a:t>
            </a:r>
            <a:endParaRPr lang="ko-KR" altLang="en-US" sz="1100" dirty="0">
              <a:solidFill>
                <a:srgbClr val="0070C0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altLang="ko-KR" sz="1100" b="1" dirty="0">
                <a:solidFill>
                  <a:srgbClr val="0070C0"/>
                </a:solidFill>
              </a:rPr>
              <a:t>AI</a:t>
            </a:r>
            <a:r>
              <a:rPr lang="ko-KR" altLang="en-US" sz="1100" b="1" dirty="0">
                <a:solidFill>
                  <a:srgbClr val="0070C0"/>
                </a:solidFill>
              </a:rPr>
              <a:t>가 단순 검색이 아니라</a:t>
            </a:r>
            <a:r>
              <a:rPr lang="en-US" altLang="ko-KR" sz="1100" b="1" dirty="0">
                <a:solidFill>
                  <a:srgbClr val="0070C0"/>
                </a:solidFill>
              </a:rPr>
              <a:t>, </a:t>
            </a:r>
            <a:r>
              <a:rPr lang="ko-KR" altLang="en-US" sz="1100" b="1" dirty="0" err="1">
                <a:solidFill>
                  <a:srgbClr val="0070C0"/>
                </a:solidFill>
              </a:rPr>
              <a:t>피드</a:t>
            </a:r>
            <a:r>
              <a:rPr lang="ko-KR" altLang="en-US" sz="1100" b="1" dirty="0">
                <a:solidFill>
                  <a:srgbClr val="0070C0"/>
                </a:solidFill>
              </a:rPr>
              <a:t> 작성 과정에서 필요한 정보를 자동으로 제공하는 구조</a:t>
            </a:r>
            <a:r>
              <a:rPr lang="en-US" altLang="ko-KR" sz="1100" b="1" dirty="0">
                <a:solidFill>
                  <a:srgbClr val="0070C0"/>
                </a:solidFill>
              </a:rPr>
              <a:t>.</a:t>
            </a:r>
            <a:endParaRPr lang="ko-KR" altLang="en-US" sz="1100" dirty="0">
              <a:solidFill>
                <a:srgbClr val="0070C0"/>
              </a:solidFill>
            </a:endParaRPr>
          </a:p>
          <a:p>
            <a:pPr>
              <a:buFont typeface="+mj-lt"/>
              <a:buAutoNum type="arabicPeriod"/>
            </a:pPr>
            <a:r>
              <a:rPr lang="ko-KR" altLang="en-US" sz="1100" dirty="0">
                <a:solidFill>
                  <a:srgbClr val="0070C0"/>
                </a:solidFill>
              </a:rPr>
              <a:t>기존 </a:t>
            </a:r>
            <a:r>
              <a:rPr lang="en-US" altLang="ko-KR" sz="1100" dirty="0">
                <a:solidFill>
                  <a:srgbClr val="0070C0"/>
                </a:solidFill>
              </a:rPr>
              <a:t>SNS</a:t>
            </a:r>
            <a:r>
              <a:rPr lang="ko-KR" altLang="en-US" sz="1100" dirty="0">
                <a:solidFill>
                  <a:srgbClr val="0070C0"/>
                </a:solidFill>
              </a:rPr>
              <a:t>와 </a:t>
            </a:r>
            <a:r>
              <a:rPr lang="ko-KR" altLang="en-US" sz="1100" dirty="0" err="1">
                <a:solidFill>
                  <a:srgbClr val="0070C0"/>
                </a:solidFill>
              </a:rPr>
              <a:t>구글맵</a:t>
            </a:r>
            <a:r>
              <a:rPr lang="ko-KR" altLang="en-US" sz="1100" dirty="0">
                <a:solidFill>
                  <a:srgbClr val="0070C0"/>
                </a:solidFill>
              </a:rPr>
              <a:t> 정보를 활용해서 </a:t>
            </a:r>
            <a:r>
              <a:rPr lang="ko-KR" altLang="en-US" sz="1100" b="1" dirty="0">
                <a:solidFill>
                  <a:srgbClr val="0070C0"/>
                </a:solidFill>
              </a:rPr>
              <a:t>유용성과 신뢰성을 확보할 수 있음</a:t>
            </a:r>
            <a:r>
              <a:rPr lang="en-US" altLang="ko-KR" sz="1100" b="1" dirty="0">
                <a:solidFill>
                  <a:srgbClr val="0070C0"/>
                </a:solidFill>
              </a:rPr>
              <a:t>.</a:t>
            </a:r>
            <a:endParaRPr lang="ko-KR" altLang="en-US" sz="1100" dirty="0">
              <a:solidFill>
                <a:srgbClr val="0070C0"/>
              </a:solidFill>
            </a:endParaRPr>
          </a:p>
          <a:p>
            <a:pPr>
              <a:buFont typeface="+mj-lt"/>
              <a:buAutoNum type="arabicPeriod"/>
            </a:pPr>
            <a:r>
              <a:rPr lang="ko-KR" altLang="en-US" sz="1100" b="1" dirty="0">
                <a:solidFill>
                  <a:srgbClr val="0070C0"/>
                </a:solidFill>
              </a:rPr>
              <a:t>사용자가 실제로 쓰기 편하게 구성</a:t>
            </a:r>
            <a:endParaRPr lang="ko-KR" altLang="en-US" sz="1100" dirty="0"/>
          </a:p>
          <a:p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" name="Google Shape;1846;p66">
            <a:extLst>
              <a:ext uri="{FF2B5EF4-FFF2-40B4-BE49-F238E27FC236}">
                <a16:creationId xmlns:a16="http://schemas.microsoft.com/office/drawing/2014/main" id="{5276D8E9-D618-A0F2-2016-588040674034}"/>
              </a:ext>
            </a:extLst>
          </p:cNvPr>
          <p:cNvSpPr txBox="1"/>
          <p:nvPr/>
        </p:nvSpPr>
        <p:spPr>
          <a:xfrm>
            <a:off x="371202" y="2862185"/>
            <a:ext cx="9118011" cy="3150469"/>
          </a:xfrm>
          <a:prstGeom prst="rect">
            <a:avLst/>
          </a:prstGeom>
          <a:noFill/>
          <a:ln w="19050" cap="flat" cmpd="sng">
            <a:solidFill>
              <a:srgbClr val="D8D8D8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>
              <a:buNone/>
            </a:pPr>
            <a:r>
              <a:rPr lang="en-US" altLang="ko-KR" sz="1100" b="1" dirty="0"/>
              <a:t>UI </a:t>
            </a:r>
            <a:r>
              <a:rPr lang="ko-KR" altLang="en-US" sz="1100" b="1" dirty="0"/>
              <a:t>구성</a:t>
            </a:r>
            <a:endParaRPr lang="en-US" altLang="ko-KR" sz="1100" b="1" dirty="0"/>
          </a:p>
          <a:p>
            <a:pPr>
              <a:buNone/>
            </a:pPr>
            <a:endParaRPr lang="en-US" sz="11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>
              <a:buNone/>
            </a:pPr>
            <a:r>
              <a:rPr lang="ko-KR" altLang="en-US" sz="1100" b="1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상단바</a:t>
            </a:r>
            <a:r>
              <a:rPr lang="ko-KR" altLang="en-US" sz="11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lang="en-US" altLang="ko-KR" sz="11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>
              <a:buFont typeface="+mj-lt"/>
              <a:buAutoNum type="arabicPeriod"/>
            </a:pPr>
            <a:endParaRPr lang="ko-KR" altLang="en-US" dirty="0"/>
          </a:p>
          <a:p>
            <a:pPr marL="742950" lvl="1" indent="-285750">
              <a:buFont typeface="+mj-lt"/>
              <a:buAutoNum type="arabicPeriod"/>
            </a:pPr>
            <a:r>
              <a:rPr lang="ko-KR" altLang="en-US" sz="1100" b="1" dirty="0"/>
              <a:t>좌측</a:t>
            </a:r>
            <a:r>
              <a:rPr lang="en-US" altLang="ko-KR" sz="1100" b="1" dirty="0"/>
              <a:t>:</a:t>
            </a:r>
            <a:r>
              <a:rPr lang="ko-KR" altLang="en-US" sz="1100" dirty="0"/>
              <a:t> 뒤로 가기 버튼 </a:t>
            </a:r>
            <a:r>
              <a:rPr lang="en-US" altLang="ko-KR" sz="1100" dirty="0"/>
              <a:t>(←)</a:t>
            </a:r>
          </a:p>
          <a:p>
            <a:pPr marL="742950" lvl="1" indent="-285750">
              <a:buFont typeface="+mj-lt"/>
              <a:buAutoNum type="arabicPeriod"/>
            </a:pPr>
            <a:r>
              <a:rPr lang="ko-KR" altLang="en-US" sz="1100" b="1" dirty="0"/>
              <a:t>중앙</a:t>
            </a:r>
            <a:r>
              <a:rPr lang="en-US" altLang="ko-KR" sz="1100" b="1" dirty="0"/>
              <a:t>:</a:t>
            </a:r>
            <a:r>
              <a:rPr lang="ko-KR" altLang="en-US" sz="1100" dirty="0"/>
              <a:t> “📝 여행 계획 작성하기” </a:t>
            </a:r>
            <a:r>
              <a:rPr lang="en-US" altLang="ko-KR" sz="1100" dirty="0"/>
              <a:t>(</a:t>
            </a:r>
            <a:r>
              <a:rPr lang="ko-KR" altLang="en-US" sz="1100" dirty="0"/>
              <a:t>텍스트</a:t>
            </a:r>
            <a:r>
              <a:rPr lang="en-US" altLang="ko-KR" sz="1100" dirty="0"/>
              <a:t>)</a:t>
            </a:r>
          </a:p>
          <a:p>
            <a:pPr marL="742950" lvl="1" indent="-285750">
              <a:buFont typeface="+mj-lt"/>
              <a:buAutoNum type="arabicPeriod"/>
            </a:pPr>
            <a:r>
              <a:rPr lang="ko-KR" altLang="en-US" sz="1100" b="1" dirty="0"/>
              <a:t>우측</a:t>
            </a:r>
            <a:r>
              <a:rPr lang="en-US" altLang="ko-KR" sz="1100" b="1" dirty="0"/>
              <a:t>:</a:t>
            </a:r>
            <a:r>
              <a:rPr lang="ko-KR" altLang="en-US" sz="1100" dirty="0"/>
              <a:t> 완료 버튼 </a:t>
            </a:r>
            <a:r>
              <a:rPr lang="en-US" altLang="ko-KR" sz="1100" dirty="0"/>
              <a:t>(✔️)</a:t>
            </a:r>
          </a:p>
          <a:p>
            <a:pPr>
              <a:buNone/>
            </a:pPr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>
              <a:buNone/>
            </a:pPr>
            <a:r>
              <a:rPr lang="ko-KR" altLang="en-US" sz="1000" b="1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텍스트입력필드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(Multiline Text)</a:t>
            </a:r>
          </a:p>
          <a:p>
            <a:pPr marL="171450" indent="-171450">
              <a:buFontTx/>
              <a:buChar char="-"/>
            </a:pPr>
            <a:r>
              <a:rPr 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Placeholder: “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여행 계획을 작성하세요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</a:t>
            </a:r>
          </a:p>
          <a:p>
            <a:pPr marL="171450" indent="-171450">
              <a:buFontTx/>
              <a:buChar char="-"/>
            </a:pP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텍스트를 입력하면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입력된 키워드를 실시간으로 분석하여 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 리스트를 생성</a:t>
            </a:r>
            <a:endParaRPr lang="en-US" altLang="ko-KR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indent="-171450">
              <a:buFontTx/>
              <a:buChar char="-"/>
            </a:pP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 예시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:”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이번 여름 파리 여행을 계획 중인데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…”</a:t>
            </a:r>
          </a:p>
          <a:p>
            <a:pPr marL="171450" indent="-171450">
              <a:buFontTx/>
              <a:buChar char="-"/>
            </a:pPr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이미자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동영상 업로드 버튼 </a:t>
            </a:r>
            <a:endParaRPr lang="en-US" altLang="ko-KR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 정보 리스트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자동생성 되는 영역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</a:p>
          <a:p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  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글을 작성할 때마다 아래 영역에 자동으로 추천 정보가 리스트로 표시됨</a:t>
            </a:r>
            <a:endParaRPr lang="en-US" altLang="ko-KR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indent="-171450">
              <a:buFontTx/>
              <a:buChar char="-"/>
            </a:pP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예를 들어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“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파리 여행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 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이라고 입력하면 자동으로 다음 정보들이 추천됨</a:t>
            </a:r>
            <a:endParaRPr lang="en-US" altLang="ko-KR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90637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8">
          <a:extLst>
            <a:ext uri="{FF2B5EF4-FFF2-40B4-BE49-F238E27FC236}">
              <a16:creationId xmlns:a16="http://schemas.microsoft.com/office/drawing/2014/main" id="{8DE27F45-09B5-0465-CCF3-B99FECFB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p66">
            <a:extLst>
              <a:ext uri="{FF2B5EF4-FFF2-40B4-BE49-F238E27FC236}">
                <a16:creationId xmlns:a16="http://schemas.microsoft.com/office/drawing/2014/main" id="{4EB7C43C-6B45-372C-7534-B3BAEAAF9A9D}"/>
              </a:ext>
            </a:extLst>
          </p:cNvPr>
          <p:cNvSpPr/>
          <p:nvPr/>
        </p:nvSpPr>
        <p:spPr>
          <a:xfrm>
            <a:off x="298904" y="1382844"/>
            <a:ext cx="9262608" cy="5070492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40" name="Google Shape;1840;p66">
            <a:extLst>
              <a:ext uri="{FF2B5EF4-FFF2-40B4-BE49-F238E27FC236}">
                <a16:creationId xmlns:a16="http://schemas.microsoft.com/office/drawing/2014/main" id="{B94B0905-3321-00C9-715D-5555503AACB8}"/>
              </a:ext>
            </a:extLst>
          </p:cNvPr>
          <p:cNvSpPr txBox="1"/>
          <p:nvPr/>
        </p:nvSpPr>
        <p:spPr>
          <a:xfrm>
            <a:off x="187324" y="165100"/>
            <a:ext cx="85821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alt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기반 여행 계획 생성 기능 </a:t>
            </a: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경로 추천 </a:t>
            </a: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ko-KR" alt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일정 생성</a:t>
            </a: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</p:txBody>
      </p:sp>
      <p:sp>
        <p:nvSpPr>
          <p:cNvPr id="1841" name="Google Shape;1841;p66">
            <a:extLst>
              <a:ext uri="{FF2B5EF4-FFF2-40B4-BE49-F238E27FC236}">
                <a16:creationId xmlns:a16="http://schemas.microsoft.com/office/drawing/2014/main" id="{1F4219A9-7ED4-98F8-FD11-A45ACE697D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8904" y="692696"/>
            <a:ext cx="9262608" cy="54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lgun Gothic"/>
              <a:buNone/>
            </a:pPr>
            <a:r>
              <a:rPr lang="ko-KR" altLang="en-US" dirty="0"/>
              <a:t>화면 컨셉</a:t>
            </a:r>
            <a:endParaRPr dirty="0"/>
          </a:p>
        </p:txBody>
      </p:sp>
      <p:sp>
        <p:nvSpPr>
          <p:cNvPr id="1842" name="Google Shape;1842;p66">
            <a:extLst>
              <a:ext uri="{FF2B5EF4-FFF2-40B4-BE49-F238E27FC236}">
                <a16:creationId xmlns:a16="http://schemas.microsoft.com/office/drawing/2014/main" id="{B110E2B6-79C8-B29F-3EA9-B32E1531417C}"/>
              </a:ext>
            </a:extLst>
          </p:cNvPr>
          <p:cNvSpPr txBox="1"/>
          <p:nvPr/>
        </p:nvSpPr>
        <p:spPr>
          <a:xfrm>
            <a:off x="7761312" y="160338"/>
            <a:ext cx="1871638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시스템 개요</a:t>
            </a:r>
            <a:endParaRPr/>
          </a:p>
        </p:txBody>
      </p:sp>
      <p:sp>
        <p:nvSpPr>
          <p:cNvPr id="4" name="Google Shape;1846;p66">
            <a:extLst>
              <a:ext uri="{FF2B5EF4-FFF2-40B4-BE49-F238E27FC236}">
                <a16:creationId xmlns:a16="http://schemas.microsoft.com/office/drawing/2014/main" id="{2DDE3F47-F395-9383-34E6-09B5BC4427B2}"/>
              </a:ext>
            </a:extLst>
          </p:cNvPr>
          <p:cNvSpPr txBox="1"/>
          <p:nvPr/>
        </p:nvSpPr>
        <p:spPr>
          <a:xfrm>
            <a:off x="6673873" y="3924338"/>
            <a:ext cx="2777240" cy="380480"/>
          </a:xfrm>
          <a:prstGeom prst="rect">
            <a:avLst/>
          </a:prstGeom>
          <a:noFill/>
          <a:ln w="19050" cap="flat" cmpd="sng">
            <a:solidFill>
              <a:srgbClr val="D8D8D8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r>
              <a:rPr 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SNS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별 각 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Top 5~10 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보여주고 링크 선택하여 저장 시 </a:t>
            </a:r>
            <a:r>
              <a:rPr lang="ko-KR" altLang="en-US" sz="1000" b="1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스팟에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저장</a:t>
            </a:r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498C7F-4FD0-2F12-5582-B70546647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03" y="1440180"/>
            <a:ext cx="1832233" cy="495581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25ED194-2DBA-9A85-44A3-27A7805678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360" y="1440180"/>
            <a:ext cx="1906731" cy="4955819"/>
          </a:xfrm>
          <a:prstGeom prst="rect">
            <a:avLst/>
          </a:prstGeom>
        </p:spPr>
      </p:pic>
      <p:sp>
        <p:nvSpPr>
          <p:cNvPr id="10" name="Google Shape;213;p5">
            <a:extLst>
              <a:ext uri="{FF2B5EF4-FFF2-40B4-BE49-F238E27FC236}">
                <a16:creationId xmlns:a16="http://schemas.microsoft.com/office/drawing/2014/main" id="{767BACC8-A840-A423-689C-5BF3F5CD90EC}"/>
              </a:ext>
            </a:extLst>
          </p:cNvPr>
          <p:cNvSpPr/>
          <p:nvPr/>
        </p:nvSpPr>
        <p:spPr>
          <a:xfrm>
            <a:off x="4460359" y="4468200"/>
            <a:ext cx="2026165" cy="1570650"/>
          </a:xfrm>
          <a:prstGeom prst="rect">
            <a:avLst/>
          </a:prstGeom>
          <a:noFill/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24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1" name="Google Shape;229;p5">
            <a:extLst>
              <a:ext uri="{FF2B5EF4-FFF2-40B4-BE49-F238E27FC236}">
                <a16:creationId xmlns:a16="http://schemas.microsoft.com/office/drawing/2014/main" id="{5CE0D051-C3E7-6388-8EEE-B5A83E56A461}"/>
              </a:ext>
            </a:extLst>
          </p:cNvPr>
          <p:cNvCxnSpPr>
            <a:cxnSpLocks/>
            <a:endCxn id="10" idx="3"/>
          </p:cNvCxnSpPr>
          <p:nvPr/>
        </p:nvCxnSpPr>
        <p:spPr>
          <a:xfrm rot="10800000" flipV="1">
            <a:off x="6486524" y="5138737"/>
            <a:ext cx="1048824" cy="114787"/>
          </a:xfrm>
          <a:prstGeom prst="bentConnector3">
            <a:avLst>
              <a:gd name="adj1" fmla="val 959"/>
            </a:avLst>
          </a:prstGeom>
          <a:noFill/>
          <a:ln w="12700" cap="sq" cmpd="sng">
            <a:solidFill>
              <a:srgbClr val="C00000"/>
            </a:solidFill>
            <a:prstDash val="dot"/>
            <a:round/>
            <a:headEnd type="none" w="sm" len="sm"/>
            <a:tailEnd type="triangle" w="med" len="med"/>
          </a:ln>
        </p:spPr>
      </p:cxnSp>
      <p:sp>
        <p:nvSpPr>
          <p:cNvPr id="20" name="Google Shape;213;p5">
            <a:extLst>
              <a:ext uri="{FF2B5EF4-FFF2-40B4-BE49-F238E27FC236}">
                <a16:creationId xmlns:a16="http://schemas.microsoft.com/office/drawing/2014/main" id="{01A70EA7-AF9F-A20A-CE2C-086F00CA5942}"/>
              </a:ext>
            </a:extLst>
          </p:cNvPr>
          <p:cNvSpPr/>
          <p:nvPr/>
        </p:nvSpPr>
        <p:spPr>
          <a:xfrm>
            <a:off x="4467693" y="3311400"/>
            <a:ext cx="2026165" cy="956043"/>
          </a:xfrm>
          <a:prstGeom prst="rect">
            <a:avLst/>
          </a:prstGeom>
          <a:noFill/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24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" name="Google Shape;213;p5">
            <a:extLst>
              <a:ext uri="{FF2B5EF4-FFF2-40B4-BE49-F238E27FC236}">
                <a16:creationId xmlns:a16="http://schemas.microsoft.com/office/drawing/2014/main" id="{AD03EFD3-FFB0-B6D8-B1DA-E3DAC5597DEA}"/>
              </a:ext>
            </a:extLst>
          </p:cNvPr>
          <p:cNvSpPr/>
          <p:nvPr/>
        </p:nvSpPr>
        <p:spPr>
          <a:xfrm>
            <a:off x="4467693" y="2087289"/>
            <a:ext cx="2026165" cy="1166774"/>
          </a:xfrm>
          <a:prstGeom prst="rect">
            <a:avLst/>
          </a:prstGeom>
          <a:noFill/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24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3" name="Google Shape;229;p5">
            <a:extLst>
              <a:ext uri="{FF2B5EF4-FFF2-40B4-BE49-F238E27FC236}">
                <a16:creationId xmlns:a16="http://schemas.microsoft.com/office/drawing/2014/main" id="{35CC8528-D1A5-C3B0-D32D-5E0A357FF0C5}"/>
              </a:ext>
            </a:extLst>
          </p:cNvPr>
          <p:cNvCxnSpPr>
            <a:cxnSpLocks/>
            <a:stCxn id="4" idx="2"/>
            <a:endCxn id="10" idx="3"/>
          </p:cNvCxnSpPr>
          <p:nvPr/>
        </p:nvCxnSpPr>
        <p:spPr>
          <a:xfrm rot="5400000">
            <a:off x="6800156" y="3991187"/>
            <a:ext cx="948707" cy="1575969"/>
          </a:xfrm>
          <a:prstGeom prst="bentConnector2">
            <a:avLst/>
          </a:prstGeom>
          <a:noFill/>
          <a:ln w="12700" cap="sq" cmpd="sng">
            <a:solidFill>
              <a:srgbClr val="C00000"/>
            </a:solidFill>
            <a:prstDash val="dot"/>
            <a:round/>
            <a:headEnd type="none" w="sm" len="sm"/>
            <a:tailEnd type="triangle" w="med" len="med"/>
          </a:ln>
        </p:spPr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387BBDDA-6825-99AF-BDBE-E25324D6E4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7246" y="4314825"/>
            <a:ext cx="1783867" cy="2029232"/>
          </a:xfrm>
          <a:prstGeom prst="rect">
            <a:avLst/>
          </a:prstGeom>
        </p:spPr>
      </p:pic>
      <p:sp>
        <p:nvSpPr>
          <p:cNvPr id="27" name="Google Shape;213;p5">
            <a:extLst>
              <a:ext uri="{FF2B5EF4-FFF2-40B4-BE49-F238E27FC236}">
                <a16:creationId xmlns:a16="http://schemas.microsoft.com/office/drawing/2014/main" id="{C46645D9-6505-C36D-2BE6-5054D40A5720}"/>
              </a:ext>
            </a:extLst>
          </p:cNvPr>
          <p:cNvSpPr/>
          <p:nvPr/>
        </p:nvSpPr>
        <p:spPr>
          <a:xfrm>
            <a:off x="7535348" y="4314825"/>
            <a:ext cx="1953866" cy="1647825"/>
          </a:xfrm>
          <a:prstGeom prst="rect">
            <a:avLst/>
          </a:prstGeom>
          <a:noFill/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24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" name="Google Shape;1846;p66">
            <a:extLst>
              <a:ext uri="{FF2B5EF4-FFF2-40B4-BE49-F238E27FC236}">
                <a16:creationId xmlns:a16="http://schemas.microsoft.com/office/drawing/2014/main" id="{3EFB275E-198F-27E8-E4E0-786677408BED}"/>
              </a:ext>
            </a:extLst>
          </p:cNvPr>
          <p:cNvSpPr txBox="1"/>
          <p:nvPr/>
        </p:nvSpPr>
        <p:spPr>
          <a:xfrm>
            <a:off x="6673873" y="3323505"/>
            <a:ext cx="2777240" cy="226591"/>
          </a:xfrm>
          <a:prstGeom prst="rect">
            <a:avLst/>
          </a:prstGeom>
          <a:noFill/>
          <a:ln w="19050" cap="flat" cmpd="sng">
            <a:solidFill>
              <a:srgbClr val="D8D8D8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 맛집 리스트 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구글 평점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)  </a:t>
            </a:r>
            <a:r>
              <a:rPr lang="ko-KR" altLang="en-US" sz="1000" b="1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선택시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Pinpoint </a:t>
            </a:r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5" name="Google Shape;229;p5">
            <a:extLst>
              <a:ext uri="{FF2B5EF4-FFF2-40B4-BE49-F238E27FC236}">
                <a16:creationId xmlns:a16="http://schemas.microsoft.com/office/drawing/2014/main" id="{F0A90A4B-27C5-C812-3948-F7CE6A2CA7E4}"/>
              </a:ext>
            </a:extLst>
          </p:cNvPr>
          <p:cNvCxnSpPr>
            <a:cxnSpLocks/>
            <a:stCxn id="34" idx="2"/>
            <a:endCxn id="20" idx="3"/>
          </p:cNvCxnSpPr>
          <p:nvPr/>
        </p:nvCxnSpPr>
        <p:spPr>
          <a:xfrm rot="5400000">
            <a:off x="7158513" y="2885442"/>
            <a:ext cx="239326" cy="1568635"/>
          </a:xfrm>
          <a:prstGeom prst="bentConnector2">
            <a:avLst/>
          </a:prstGeom>
          <a:noFill/>
          <a:ln w="12700" cap="sq" cmpd="sng">
            <a:solidFill>
              <a:srgbClr val="C00000"/>
            </a:solidFill>
            <a:prstDash val="dot"/>
            <a:round/>
            <a:headEnd type="none" w="sm" len="sm"/>
            <a:tailEnd type="triangle" w="med" len="med"/>
          </a:ln>
        </p:spPr>
      </p:cxnSp>
      <p:sp>
        <p:nvSpPr>
          <p:cNvPr id="39" name="Google Shape;1846;p66">
            <a:extLst>
              <a:ext uri="{FF2B5EF4-FFF2-40B4-BE49-F238E27FC236}">
                <a16:creationId xmlns:a16="http://schemas.microsoft.com/office/drawing/2014/main" id="{C77D77FD-50F7-2261-E7E6-FFA6381540B3}"/>
              </a:ext>
            </a:extLst>
          </p:cNvPr>
          <p:cNvSpPr txBox="1"/>
          <p:nvPr/>
        </p:nvSpPr>
        <p:spPr>
          <a:xfrm>
            <a:off x="6673873" y="2087289"/>
            <a:ext cx="2777240" cy="380480"/>
          </a:xfrm>
          <a:prstGeom prst="rect">
            <a:avLst/>
          </a:prstGeom>
          <a:noFill/>
          <a:ln w="19050" cap="flat" cmpd="sng">
            <a:solidFill>
              <a:srgbClr val="D8D8D8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루트에 주요 관광지 리스트 </a:t>
            </a:r>
            <a:r>
              <a:rPr lang="ko-KR" altLang="en-US" sz="1000" b="1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선택시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000" b="1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PinPoint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000" b="1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셀렉트</a:t>
            </a:r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0" name="Google Shape;229;p5">
            <a:extLst>
              <a:ext uri="{FF2B5EF4-FFF2-40B4-BE49-F238E27FC236}">
                <a16:creationId xmlns:a16="http://schemas.microsoft.com/office/drawing/2014/main" id="{7482FEA7-099C-4620-D6A9-1E24626DABED}"/>
              </a:ext>
            </a:extLst>
          </p:cNvPr>
          <p:cNvCxnSpPr>
            <a:cxnSpLocks/>
            <a:stCxn id="39" idx="2"/>
            <a:endCxn id="21" idx="3"/>
          </p:cNvCxnSpPr>
          <p:nvPr/>
        </p:nvCxnSpPr>
        <p:spPr>
          <a:xfrm rot="5400000">
            <a:off x="7176723" y="1784905"/>
            <a:ext cx="202907" cy="1568635"/>
          </a:xfrm>
          <a:prstGeom prst="bentConnector2">
            <a:avLst/>
          </a:prstGeom>
          <a:noFill/>
          <a:ln w="12700" cap="sq" cmpd="sng">
            <a:solidFill>
              <a:srgbClr val="C00000"/>
            </a:solidFill>
            <a:prstDash val="dot"/>
            <a:round/>
            <a:headEnd type="none" w="sm" len="sm"/>
            <a:tailEnd type="triangle" w="med" len="med"/>
          </a:ln>
        </p:spPr>
      </p:cxnSp>
      <p:sp>
        <p:nvSpPr>
          <p:cNvPr id="44" name="Google Shape;1846;p66">
            <a:extLst>
              <a:ext uri="{FF2B5EF4-FFF2-40B4-BE49-F238E27FC236}">
                <a16:creationId xmlns:a16="http://schemas.microsoft.com/office/drawing/2014/main" id="{1EC2F9AD-075C-779E-5731-233ADB47777E}"/>
              </a:ext>
            </a:extLst>
          </p:cNvPr>
          <p:cNvSpPr txBox="1"/>
          <p:nvPr/>
        </p:nvSpPr>
        <p:spPr>
          <a:xfrm>
            <a:off x="2398774" y="5425928"/>
            <a:ext cx="1906731" cy="380480"/>
          </a:xfrm>
          <a:prstGeom prst="rect">
            <a:avLst/>
          </a:prstGeom>
          <a:noFill/>
          <a:ln w="19050" cap="flat" cmpd="sng">
            <a:solidFill>
              <a:srgbClr val="D8D8D8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적정 루트 </a:t>
            </a:r>
            <a:r>
              <a:rPr lang="ko-KR" altLang="en-US" sz="1000" b="1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구글맵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Pin 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표시와 시간 등</a:t>
            </a:r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" name="Google Shape;213;p5">
            <a:extLst>
              <a:ext uri="{FF2B5EF4-FFF2-40B4-BE49-F238E27FC236}">
                <a16:creationId xmlns:a16="http://schemas.microsoft.com/office/drawing/2014/main" id="{E4C51684-A3E9-D190-AD18-AC27E8F121B2}"/>
              </a:ext>
            </a:extLst>
          </p:cNvPr>
          <p:cNvSpPr/>
          <p:nvPr/>
        </p:nvSpPr>
        <p:spPr>
          <a:xfrm>
            <a:off x="372610" y="1730493"/>
            <a:ext cx="1915766" cy="1327032"/>
          </a:xfrm>
          <a:prstGeom prst="rect">
            <a:avLst/>
          </a:prstGeom>
          <a:noFill/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24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" name="Google Shape;213;p5">
            <a:extLst>
              <a:ext uri="{FF2B5EF4-FFF2-40B4-BE49-F238E27FC236}">
                <a16:creationId xmlns:a16="http://schemas.microsoft.com/office/drawing/2014/main" id="{3E06907A-0868-0B85-F810-D54E2E856C6E}"/>
              </a:ext>
            </a:extLst>
          </p:cNvPr>
          <p:cNvSpPr/>
          <p:nvPr/>
        </p:nvSpPr>
        <p:spPr>
          <a:xfrm>
            <a:off x="372610" y="3141168"/>
            <a:ext cx="1915766" cy="1487982"/>
          </a:xfrm>
          <a:prstGeom prst="rect">
            <a:avLst/>
          </a:prstGeom>
          <a:noFill/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24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" name="Google Shape;213;p5">
            <a:extLst>
              <a:ext uri="{FF2B5EF4-FFF2-40B4-BE49-F238E27FC236}">
                <a16:creationId xmlns:a16="http://schemas.microsoft.com/office/drawing/2014/main" id="{A4206AD9-D552-8EC6-36DF-9CDCBE5F61A1}"/>
              </a:ext>
            </a:extLst>
          </p:cNvPr>
          <p:cNvSpPr/>
          <p:nvPr/>
        </p:nvSpPr>
        <p:spPr>
          <a:xfrm>
            <a:off x="372610" y="5417819"/>
            <a:ext cx="1915766" cy="978179"/>
          </a:xfrm>
          <a:prstGeom prst="rect">
            <a:avLst/>
          </a:prstGeom>
          <a:noFill/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24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" name="Google Shape;1846;p66">
            <a:extLst>
              <a:ext uri="{FF2B5EF4-FFF2-40B4-BE49-F238E27FC236}">
                <a16:creationId xmlns:a16="http://schemas.microsoft.com/office/drawing/2014/main" id="{134304CA-E9B8-4F2A-CFB9-361C8C36A6E3}"/>
              </a:ext>
            </a:extLst>
          </p:cNvPr>
          <p:cNvSpPr txBox="1"/>
          <p:nvPr/>
        </p:nvSpPr>
        <p:spPr>
          <a:xfrm>
            <a:off x="2398774" y="3176110"/>
            <a:ext cx="1906731" cy="226591"/>
          </a:xfrm>
          <a:prstGeom prst="rect">
            <a:avLst/>
          </a:prstGeom>
          <a:noFill/>
          <a:ln w="19050" cap="flat" cmpd="sng">
            <a:solidFill>
              <a:srgbClr val="D8D8D8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 추가 버튼</a:t>
            </a:r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" name="Google Shape;1846;p66">
            <a:extLst>
              <a:ext uri="{FF2B5EF4-FFF2-40B4-BE49-F238E27FC236}">
                <a16:creationId xmlns:a16="http://schemas.microsoft.com/office/drawing/2014/main" id="{80015545-87DF-ADDD-B3B5-0D83DB3C250F}"/>
              </a:ext>
            </a:extLst>
          </p:cNvPr>
          <p:cNvSpPr txBox="1"/>
          <p:nvPr/>
        </p:nvSpPr>
        <p:spPr>
          <a:xfrm>
            <a:off x="2398774" y="1734706"/>
            <a:ext cx="1906731" cy="380480"/>
          </a:xfrm>
          <a:prstGeom prst="rect">
            <a:avLst/>
          </a:prstGeom>
          <a:noFill/>
          <a:ln w="19050" cap="flat" cmpd="sng">
            <a:solidFill>
              <a:srgbClr val="D8D8D8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여행에 대한 계획을 텍스트로 작성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Wingdings" panose="05000000000000000000" pitchFamily="2" charset="2"/>
              </a:rPr>
              <a:t>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</a:t>
            </a:r>
            <a:r>
              <a:rPr lang="ko-KR" altLang="en-US" sz="10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 버튼 클릭</a:t>
            </a:r>
            <a:endParaRPr lang="en-US" sz="1000" b="1" dirty="0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0" name="Google Shape;229;p5">
            <a:extLst>
              <a:ext uri="{FF2B5EF4-FFF2-40B4-BE49-F238E27FC236}">
                <a16:creationId xmlns:a16="http://schemas.microsoft.com/office/drawing/2014/main" id="{E7BBC9BD-A564-E4CF-A3B1-D17D452677CB}"/>
              </a:ext>
            </a:extLst>
          </p:cNvPr>
          <p:cNvCxnSpPr>
            <a:cxnSpLocks/>
            <a:stCxn id="49" idx="2"/>
            <a:endCxn id="45" idx="3"/>
          </p:cNvCxnSpPr>
          <p:nvPr/>
        </p:nvCxnSpPr>
        <p:spPr>
          <a:xfrm rot="5400000">
            <a:off x="2680847" y="1722715"/>
            <a:ext cx="278823" cy="1063764"/>
          </a:xfrm>
          <a:prstGeom prst="bentConnector2">
            <a:avLst/>
          </a:prstGeom>
          <a:noFill/>
          <a:ln w="12700" cap="sq" cmpd="sng">
            <a:solidFill>
              <a:srgbClr val="C00000"/>
            </a:solidFill>
            <a:prstDash val="dot"/>
            <a:round/>
            <a:headEnd type="none" w="sm" len="sm"/>
            <a:tailEnd type="triangle" w="med" len="med"/>
          </a:ln>
        </p:spPr>
      </p:cxnSp>
      <p:cxnSp>
        <p:nvCxnSpPr>
          <p:cNvPr id="53" name="Google Shape;229;p5">
            <a:extLst>
              <a:ext uri="{FF2B5EF4-FFF2-40B4-BE49-F238E27FC236}">
                <a16:creationId xmlns:a16="http://schemas.microsoft.com/office/drawing/2014/main" id="{02CE4679-3A4D-5F07-8046-AC4885534176}"/>
              </a:ext>
            </a:extLst>
          </p:cNvPr>
          <p:cNvCxnSpPr>
            <a:cxnSpLocks/>
            <a:stCxn id="48" idx="2"/>
            <a:endCxn id="46" idx="3"/>
          </p:cNvCxnSpPr>
          <p:nvPr/>
        </p:nvCxnSpPr>
        <p:spPr>
          <a:xfrm rot="5400000">
            <a:off x="2579029" y="3112048"/>
            <a:ext cx="482458" cy="1063764"/>
          </a:xfrm>
          <a:prstGeom prst="bentConnector2">
            <a:avLst/>
          </a:prstGeom>
          <a:noFill/>
          <a:ln w="12700" cap="sq" cmpd="sng">
            <a:solidFill>
              <a:srgbClr val="C00000"/>
            </a:solidFill>
            <a:prstDash val="dot"/>
            <a:round/>
            <a:headEnd type="none" w="sm" len="sm"/>
            <a:tailEnd type="triangle" w="med" len="med"/>
          </a:ln>
        </p:spPr>
      </p:cxnSp>
      <p:cxnSp>
        <p:nvCxnSpPr>
          <p:cNvPr id="56" name="Google Shape;229;p5">
            <a:extLst>
              <a:ext uri="{FF2B5EF4-FFF2-40B4-BE49-F238E27FC236}">
                <a16:creationId xmlns:a16="http://schemas.microsoft.com/office/drawing/2014/main" id="{D6A0A8D4-E241-5CCD-16CB-2F22331A5DBD}"/>
              </a:ext>
            </a:extLst>
          </p:cNvPr>
          <p:cNvCxnSpPr>
            <a:cxnSpLocks/>
            <a:stCxn id="44" idx="2"/>
            <a:endCxn id="47" idx="3"/>
          </p:cNvCxnSpPr>
          <p:nvPr/>
        </p:nvCxnSpPr>
        <p:spPr>
          <a:xfrm rot="5400000">
            <a:off x="2770008" y="5324776"/>
            <a:ext cx="100501" cy="1063764"/>
          </a:xfrm>
          <a:prstGeom prst="bentConnector2">
            <a:avLst/>
          </a:prstGeom>
          <a:noFill/>
          <a:ln w="12700" cap="sq" cmpd="sng">
            <a:solidFill>
              <a:srgbClr val="C00000"/>
            </a:solidFill>
            <a:prstDash val="dot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433679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8">
          <a:extLst>
            <a:ext uri="{FF2B5EF4-FFF2-40B4-BE49-F238E27FC236}">
              <a16:creationId xmlns:a16="http://schemas.microsoft.com/office/drawing/2014/main" id="{E8E0D1A9-A9DA-8368-894A-83DF9E226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p66">
            <a:extLst>
              <a:ext uri="{FF2B5EF4-FFF2-40B4-BE49-F238E27FC236}">
                <a16:creationId xmlns:a16="http://schemas.microsoft.com/office/drawing/2014/main" id="{3CB6ECC3-3EB7-5AFD-C3F4-2BA0F2BA8117}"/>
              </a:ext>
            </a:extLst>
          </p:cNvPr>
          <p:cNvSpPr/>
          <p:nvPr/>
        </p:nvSpPr>
        <p:spPr>
          <a:xfrm>
            <a:off x="298904" y="1382844"/>
            <a:ext cx="9262608" cy="5070492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40" name="Google Shape;1840;p66">
            <a:extLst>
              <a:ext uri="{FF2B5EF4-FFF2-40B4-BE49-F238E27FC236}">
                <a16:creationId xmlns:a16="http://schemas.microsoft.com/office/drawing/2014/main" id="{2B0D755E-3FE0-83F6-6222-3298E7E0C304}"/>
              </a:ext>
            </a:extLst>
          </p:cNvPr>
          <p:cNvSpPr txBox="1"/>
          <p:nvPr/>
        </p:nvSpPr>
        <p:spPr>
          <a:xfrm>
            <a:off x="187324" y="165100"/>
            <a:ext cx="85821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alt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기반 여행 계획 생성 기능 </a:t>
            </a: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경로 추천 </a:t>
            </a: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ko-KR" alt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일정 생성</a:t>
            </a: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</p:txBody>
      </p:sp>
      <p:sp>
        <p:nvSpPr>
          <p:cNvPr id="1841" name="Google Shape;1841;p66">
            <a:extLst>
              <a:ext uri="{FF2B5EF4-FFF2-40B4-BE49-F238E27FC236}">
                <a16:creationId xmlns:a16="http://schemas.microsoft.com/office/drawing/2014/main" id="{C9A30131-DFBA-1418-3CA6-730E4AAD36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8904" y="692696"/>
            <a:ext cx="9262608" cy="54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lgun Gothic"/>
              <a:buNone/>
            </a:pPr>
            <a:r>
              <a:rPr lang="ko-KR"/>
              <a:t>기능연계 구조</a:t>
            </a:r>
            <a:endParaRPr/>
          </a:p>
        </p:txBody>
      </p:sp>
      <p:sp>
        <p:nvSpPr>
          <p:cNvPr id="1842" name="Google Shape;1842;p66">
            <a:extLst>
              <a:ext uri="{FF2B5EF4-FFF2-40B4-BE49-F238E27FC236}">
                <a16:creationId xmlns:a16="http://schemas.microsoft.com/office/drawing/2014/main" id="{65E55E5B-4BD9-4E87-FE82-D8661556013E}"/>
              </a:ext>
            </a:extLst>
          </p:cNvPr>
          <p:cNvSpPr txBox="1"/>
          <p:nvPr/>
        </p:nvSpPr>
        <p:spPr>
          <a:xfrm>
            <a:off x="7761312" y="160338"/>
            <a:ext cx="1871638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시스템 개요</a:t>
            </a:r>
            <a:endParaRPr/>
          </a:p>
        </p:txBody>
      </p:sp>
      <p:sp>
        <p:nvSpPr>
          <p:cNvPr id="4" name="Google Shape;1846;p66">
            <a:extLst>
              <a:ext uri="{FF2B5EF4-FFF2-40B4-BE49-F238E27FC236}">
                <a16:creationId xmlns:a16="http://schemas.microsoft.com/office/drawing/2014/main" id="{34B5681D-DF30-CE6C-6548-18B3DC5D0C61}"/>
              </a:ext>
            </a:extLst>
          </p:cNvPr>
          <p:cNvSpPr txBox="1"/>
          <p:nvPr/>
        </p:nvSpPr>
        <p:spPr>
          <a:xfrm>
            <a:off x="371202" y="1495722"/>
            <a:ext cx="9118011" cy="3766022"/>
          </a:xfrm>
          <a:prstGeom prst="rect">
            <a:avLst/>
          </a:prstGeom>
          <a:noFill/>
          <a:ln w="19050" cap="flat" cmpd="sng">
            <a:solidFill>
              <a:srgbClr val="D8D8D8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추천 정보 옆에 있는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 + 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추가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 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버튼을 클릭하면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해당 정보가 자동으로 사용자의 </a:t>
            </a:r>
            <a:r>
              <a:rPr lang="ko-KR" altLang="en-US" sz="1000" b="1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피드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작성 내용에 추가됨</a:t>
            </a:r>
            <a:endParaRPr lang="en-US" altLang="ko-KR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선택한 정보들은 하단의 본문 영역에 자동으로 정리되어 표시됨</a:t>
            </a:r>
            <a:endParaRPr lang="en-US" altLang="ko-KR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추가된</a:t>
            </a:r>
            <a:r>
              <a:rPr 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정보 미리보기 영역</a:t>
            </a:r>
            <a:endParaRPr lang="en-US" altLang="ko-KR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ko-KR" altLang="en-US" sz="1000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사용자가추가된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정보들이 텍스트 </a:t>
            </a:r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+ 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이미지로 미리보기 형태로 표시됨</a:t>
            </a:r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지도맵</a:t>
            </a:r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</a:p>
          <a:p>
            <a:r>
              <a:rPr lang="ko-KR" altLang="en-US" sz="1000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예를들어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사용자가 </a:t>
            </a:r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</a:t>
            </a:r>
            <a:r>
              <a:rPr lang="ko-KR" altLang="en-US" sz="1000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라뒤레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마카롱</a:t>
            </a:r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＂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추가하면 다음과 같이 표시됨</a:t>
            </a:r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🍽️ </a:t>
            </a:r>
            <a:r>
              <a:rPr lang="ko-KR" altLang="en-US" sz="1000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라뒤레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마카롱</a:t>
            </a:r>
          </a:p>
          <a:p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위치</a:t>
            </a:r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파리 중심가</a:t>
            </a:r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000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별점</a:t>
            </a:r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4.7  </a:t>
            </a:r>
          </a:p>
          <a:p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 메뉴</a:t>
            </a:r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마카롱</a:t>
            </a:r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커피 </a:t>
            </a:r>
            <a:endParaRPr lang="en-US" altLang="ko-KR" sz="1000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지도에 </a:t>
            </a:r>
            <a:r>
              <a:rPr lang="en-US" altLang="ko-KR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Pinup </a:t>
            </a:r>
            <a:r>
              <a:rPr lang="ko-KR" altLang="en-US" sz="10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표시</a:t>
            </a:r>
            <a:endParaRPr lang="en-US" altLang="ko-KR" sz="1000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endParaRPr lang="en-US" altLang="ko-KR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저장버튼 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sz="1000" b="1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피드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메인 </a:t>
            </a:r>
            <a:r>
              <a:rPr lang="ko-KR" altLang="en-US" sz="1000" b="1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피드화면으로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이동 노출</a:t>
            </a:r>
            <a:endParaRPr lang="en-US" altLang="ko-KR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DBBA2E7-3744-0F81-BBAA-B0140709E06B}"/>
              </a:ext>
            </a:extLst>
          </p:cNvPr>
          <p:cNvGraphicFramePr>
            <a:graphicFrameLocks noGrp="1"/>
          </p:cNvGraphicFramePr>
          <p:nvPr/>
        </p:nvGraphicFramePr>
        <p:xfrm>
          <a:off x="416787" y="1495722"/>
          <a:ext cx="8994341" cy="1554480"/>
        </p:xfrm>
        <a:graphic>
          <a:graphicData uri="http://schemas.openxmlformats.org/drawingml/2006/table">
            <a:tbl>
              <a:tblPr firstRow="1" bandRow="1">
                <a:tableStyleId>{6EDC6BCF-486F-47D3-B478-F70685DA3715}</a:tableStyleId>
              </a:tblPr>
              <a:tblGrid>
                <a:gridCol w="1757763">
                  <a:extLst>
                    <a:ext uri="{9D8B030D-6E8A-4147-A177-3AD203B41FA5}">
                      <a16:colId xmlns:a16="http://schemas.microsoft.com/office/drawing/2014/main" val="3824550534"/>
                    </a:ext>
                  </a:extLst>
                </a:gridCol>
                <a:gridCol w="5859841">
                  <a:extLst>
                    <a:ext uri="{9D8B030D-6E8A-4147-A177-3AD203B41FA5}">
                      <a16:colId xmlns:a16="http://schemas.microsoft.com/office/drawing/2014/main" val="3256906223"/>
                    </a:ext>
                  </a:extLst>
                </a:gridCol>
                <a:gridCol w="1376737">
                  <a:extLst>
                    <a:ext uri="{9D8B030D-6E8A-4147-A177-3AD203B41FA5}">
                      <a16:colId xmlns:a16="http://schemas.microsoft.com/office/drawing/2014/main" val="679486569"/>
                    </a:ext>
                  </a:extLst>
                </a:gridCol>
              </a:tblGrid>
              <a:tr h="1336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정보 유형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추천 목록 예시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추가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551103"/>
                  </a:ext>
                </a:extLst>
              </a:tr>
              <a:tr h="1336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경로 추천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“</a:t>
                      </a:r>
                      <a:r>
                        <a:rPr lang="ko-KR" altLang="en-US" sz="1100" dirty="0" err="1"/>
                        <a:t>루브르</a:t>
                      </a:r>
                      <a:r>
                        <a:rPr lang="ko-KR" altLang="en-US" sz="1100" dirty="0"/>
                        <a:t> 박물관 </a:t>
                      </a:r>
                      <a:r>
                        <a:rPr lang="en-US" altLang="ko-KR" sz="110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100" dirty="0" err="1">
                          <a:sym typeface="Wingdings" panose="05000000000000000000" pitchFamily="2" charset="2"/>
                        </a:rPr>
                        <a:t>노트르담</a:t>
                      </a:r>
                      <a:r>
                        <a:rPr lang="ko-KR" altLang="en-US" sz="1100" dirty="0">
                          <a:sym typeface="Wingdings" panose="05000000000000000000" pitchFamily="2" charset="2"/>
                        </a:rPr>
                        <a:t> 대성당 </a:t>
                      </a:r>
                      <a:r>
                        <a:rPr lang="en-US" altLang="ko-KR" sz="110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100" dirty="0" err="1">
                          <a:sym typeface="Wingdings" panose="05000000000000000000" pitchFamily="2" charset="2"/>
                        </a:rPr>
                        <a:t>에펠탑</a:t>
                      </a:r>
                      <a:r>
                        <a:rPr lang="en-US" altLang="ko-KR" sz="1100" dirty="0">
                          <a:sym typeface="Wingdings" panose="05000000000000000000" pitchFamily="2" charset="2"/>
                        </a:rPr>
                        <a:t>＂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+ </a:t>
                      </a:r>
                      <a:r>
                        <a:rPr lang="ko-KR" altLang="en-US" sz="1100" dirty="0"/>
                        <a:t>추가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7022362"/>
                  </a:ext>
                </a:extLst>
              </a:tr>
              <a:tr h="1336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맛집 추천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“</a:t>
                      </a:r>
                      <a:r>
                        <a:rPr lang="ko-KR" altLang="en-US" sz="1100" dirty="0" err="1"/>
                        <a:t>라뒤레</a:t>
                      </a:r>
                      <a:r>
                        <a:rPr lang="ko-KR" altLang="en-US" sz="1100" dirty="0"/>
                        <a:t> 마카롱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 err="1"/>
                        <a:t>르콩트와</a:t>
                      </a:r>
                      <a:r>
                        <a:rPr lang="ko-KR" altLang="en-US" sz="1100" dirty="0"/>
                        <a:t> </a:t>
                      </a:r>
                      <a:r>
                        <a:rPr lang="ko-KR" altLang="en-US" sz="1100" dirty="0" err="1"/>
                        <a:t>드</a:t>
                      </a:r>
                      <a:r>
                        <a:rPr lang="ko-KR" altLang="en-US" sz="1100" dirty="0"/>
                        <a:t> 릴리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 err="1"/>
                        <a:t>앙젤리나</a:t>
                      </a:r>
                      <a:r>
                        <a:rPr lang="ko-KR" altLang="en-US" sz="1100" dirty="0"/>
                        <a:t> 카페</a:t>
                      </a:r>
                      <a:r>
                        <a:rPr lang="en-US" altLang="ko-KR" sz="1100" dirty="0"/>
                        <a:t>＂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+ </a:t>
                      </a:r>
                      <a:r>
                        <a:rPr lang="ko-KR" altLang="en-US" sz="1100" dirty="0"/>
                        <a:t>추가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3371554"/>
                  </a:ext>
                </a:extLst>
              </a:tr>
              <a:tr h="1336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유튜브 리뷰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“</a:t>
                      </a:r>
                      <a:r>
                        <a:rPr lang="ko-KR" altLang="en-US" sz="1100" dirty="0"/>
                        <a:t>파리 </a:t>
                      </a:r>
                      <a:r>
                        <a:rPr lang="en-US" altLang="ko-KR" sz="1100" dirty="0"/>
                        <a:t>3</a:t>
                      </a:r>
                      <a:r>
                        <a:rPr lang="ko-KR" altLang="en-US" sz="1100" dirty="0"/>
                        <a:t>일 여행 </a:t>
                      </a:r>
                      <a:r>
                        <a:rPr lang="en-US" altLang="ko-KR" sz="1100" dirty="0"/>
                        <a:t>Vlog”, “</a:t>
                      </a:r>
                      <a:r>
                        <a:rPr lang="ko-KR" altLang="en-US" sz="1100" dirty="0"/>
                        <a:t>파리 맛집 투어</a:t>
                      </a:r>
                      <a:r>
                        <a:rPr lang="en-US" altLang="ko-KR" sz="1100" dirty="0"/>
                        <a:t>＂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+ </a:t>
                      </a:r>
                      <a:r>
                        <a:rPr lang="ko-KR" altLang="en-US" sz="1100" dirty="0"/>
                        <a:t>추가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8293284"/>
                  </a:ext>
                </a:extLst>
              </a:tr>
              <a:tr h="1336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인스타그램 인기 포스팅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“#</a:t>
                      </a:r>
                      <a:r>
                        <a:rPr lang="en-US" altLang="ko-KR" sz="1100" dirty="0" err="1"/>
                        <a:t>ParisTravel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#EiffelTower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#ParisCafe”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+ </a:t>
                      </a:r>
                      <a:r>
                        <a:rPr lang="ko-KR" altLang="en-US" sz="1100" dirty="0"/>
                        <a:t>추가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016166"/>
                  </a:ext>
                </a:extLst>
              </a:tr>
              <a:tr h="1336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/>
                        <a:t>구글맵</a:t>
                      </a:r>
                      <a:r>
                        <a:rPr lang="ko-KR" altLang="en-US" sz="1100" dirty="0"/>
                        <a:t>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“</a:t>
                      </a:r>
                      <a:r>
                        <a:rPr lang="ko-KR" altLang="en-US" sz="1100" dirty="0" err="1"/>
                        <a:t>별점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4.5 </a:t>
                      </a:r>
                      <a:r>
                        <a:rPr lang="ko-KR" altLang="en-US" sz="1100" dirty="0"/>
                        <a:t>이상의 파리 카페 리스트</a:t>
                      </a:r>
                      <a:r>
                        <a:rPr lang="en-US" altLang="ko-KR" sz="1100" dirty="0"/>
                        <a:t>＂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+ </a:t>
                      </a:r>
                      <a:r>
                        <a:rPr lang="ko-KR" altLang="en-US" sz="1100" dirty="0"/>
                        <a:t>추가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378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7624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8">
          <a:extLst>
            <a:ext uri="{FF2B5EF4-FFF2-40B4-BE49-F238E27FC236}">
              <a16:creationId xmlns:a16="http://schemas.microsoft.com/office/drawing/2014/main" id="{5164AE71-22AD-1404-B2B6-C2662A928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p66">
            <a:extLst>
              <a:ext uri="{FF2B5EF4-FFF2-40B4-BE49-F238E27FC236}">
                <a16:creationId xmlns:a16="http://schemas.microsoft.com/office/drawing/2014/main" id="{0BF5BCEF-FB85-79AD-CE19-9435B65F298A}"/>
              </a:ext>
            </a:extLst>
          </p:cNvPr>
          <p:cNvSpPr/>
          <p:nvPr/>
        </p:nvSpPr>
        <p:spPr>
          <a:xfrm>
            <a:off x="298904" y="1382844"/>
            <a:ext cx="9262608" cy="5070492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40" name="Google Shape;1840;p66">
            <a:extLst>
              <a:ext uri="{FF2B5EF4-FFF2-40B4-BE49-F238E27FC236}">
                <a16:creationId xmlns:a16="http://schemas.microsoft.com/office/drawing/2014/main" id="{55C9DE08-269A-E7F9-3EA0-8283CABD583E}"/>
              </a:ext>
            </a:extLst>
          </p:cNvPr>
          <p:cNvSpPr txBox="1"/>
          <p:nvPr/>
        </p:nvSpPr>
        <p:spPr>
          <a:xfrm>
            <a:off x="187324" y="165100"/>
            <a:ext cx="85821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alt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기반 여행 계획 생성 기능 </a:t>
            </a: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경로 추천 </a:t>
            </a: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ko-KR" alt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일정 생성</a:t>
            </a: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</p:txBody>
      </p:sp>
      <p:sp>
        <p:nvSpPr>
          <p:cNvPr id="1841" name="Google Shape;1841;p66">
            <a:extLst>
              <a:ext uri="{FF2B5EF4-FFF2-40B4-BE49-F238E27FC236}">
                <a16:creationId xmlns:a16="http://schemas.microsoft.com/office/drawing/2014/main" id="{10DAB560-BBB2-2462-6389-2A56C8AC71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8904" y="692696"/>
            <a:ext cx="9262608" cy="54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lgun Gothic"/>
              <a:buNone/>
            </a:pPr>
            <a:r>
              <a:rPr lang="ko-KR"/>
              <a:t>기능연계 구조</a:t>
            </a:r>
            <a:endParaRPr/>
          </a:p>
        </p:txBody>
      </p:sp>
      <p:sp>
        <p:nvSpPr>
          <p:cNvPr id="1842" name="Google Shape;1842;p66">
            <a:extLst>
              <a:ext uri="{FF2B5EF4-FFF2-40B4-BE49-F238E27FC236}">
                <a16:creationId xmlns:a16="http://schemas.microsoft.com/office/drawing/2014/main" id="{DB4599EF-5A54-2CD3-A092-F703B7D6A7B6}"/>
              </a:ext>
            </a:extLst>
          </p:cNvPr>
          <p:cNvSpPr txBox="1"/>
          <p:nvPr/>
        </p:nvSpPr>
        <p:spPr>
          <a:xfrm>
            <a:off x="7761312" y="160338"/>
            <a:ext cx="1871638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시스템 개요</a:t>
            </a:r>
            <a:endParaRPr/>
          </a:p>
        </p:txBody>
      </p:sp>
      <p:sp>
        <p:nvSpPr>
          <p:cNvPr id="4" name="Google Shape;1846;p66">
            <a:extLst>
              <a:ext uri="{FF2B5EF4-FFF2-40B4-BE49-F238E27FC236}">
                <a16:creationId xmlns:a16="http://schemas.microsoft.com/office/drawing/2014/main" id="{619EEE04-B727-09C3-FE11-7E6B3DDC3B63}"/>
              </a:ext>
            </a:extLst>
          </p:cNvPr>
          <p:cNvSpPr txBox="1"/>
          <p:nvPr/>
        </p:nvSpPr>
        <p:spPr>
          <a:xfrm>
            <a:off x="371202" y="1495722"/>
            <a:ext cx="9118011" cy="3981465"/>
          </a:xfrm>
          <a:prstGeom prst="rect">
            <a:avLst/>
          </a:prstGeom>
          <a:noFill/>
          <a:ln w="19050" cap="flat" cmpd="sng">
            <a:solidFill>
              <a:srgbClr val="D8D8D8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</a:t>
            </a:r>
            <a:r>
              <a:rPr lang="ko-KR" altLang="en-US" sz="1000" b="1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피드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화면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다른 사용자들이 보는 화면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</a:p>
          <a:p>
            <a:endParaRPr lang="en-US" altLang="ko-KR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UI 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구성 요소 </a:t>
            </a:r>
            <a:endParaRPr lang="en-US" altLang="ko-KR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>
              <a:buNone/>
            </a:pPr>
            <a:r>
              <a:rPr lang="ko-KR" altLang="en-US" sz="1100" b="1" dirty="0"/>
              <a:t>상단 바 </a:t>
            </a:r>
            <a:r>
              <a:rPr lang="en-US" altLang="ko-KR" sz="1100" b="1" dirty="0"/>
              <a:t>(</a:t>
            </a:r>
            <a:r>
              <a:rPr lang="en-US" altLang="ko-KR" sz="1100" b="1" dirty="0" err="1"/>
              <a:t>AppBar</a:t>
            </a:r>
            <a:r>
              <a:rPr lang="en-US" altLang="ko-KR" sz="1100" b="1" dirty="0"/>
              <a:t>)</a:t>
            </a:r>
            <a:endParaRPr lang="ko-KR" altLang="en-US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100" b="1" dirty="0"/>
              <a:t>좌측</a:t>
            </a:r>
            <a:r>
              <a:rPr lang="en-US" altLang="ko-KR" sz="1100" b="1" dirty="0"/>
              <a:t>:</a:t>
            </a:r>
            <a:r>
              <a:rPr lang="ko-KR" altLang="en-US" sz="1100" dirty="0"/>
              <a:t> “🏠 홈” 버튼 </a:t>
            </a:r>
            <a:r>
              <a:rPr lang="en-US" altLang="ko-KR" sz="1100" dirty="0"/>
              <a:t>(</a:t>
            </a:r>
            <a:r>
              <a:rPr lang="ko-KR" altLang="en-US" sz="1100" dirty="0"/>
              <a:t>로고 아이콘</a:t>
            </a:r>
            <a:r>
              <a:rPr lang="en-US" altLang="ko-KR" sz="11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100" b="1" dirty="0"/>
              <a:t>중앙</a:t>
            </a:r>
            <a:r>
              <a:rPr lang="en-US" altLang="ko-KR" sz="1100" b="1" dirty="0"/>
              <a:t>:</a:t>
            </a:r>
            <a:r>
              <a:rPr lang="ko-KR" altLang="en-US" sz="1100" dirty="0"/>
              <a:t> </a:t>
            </a:r>
            <a:r>
              <a:rPr lang="ko-KR" altLang="en-US" sz="1100" dirty="0" err="1"/>
              <a:t>검색창</a:t>
            </a:r>
            <a:r>
              <a:rPr lang="ko-KR" altLang="en-US" sz="1100" dirty="0"/>
              <a:t> </a:t>
            </a:r>
            <a:r>
              <a:rPr lang="en-US" altLang="ko-KR" sz="1100" dirty="0"/>
              <a:t>(</a:t>
            </a:r>
            <a:r>
              <a:rPr lang="ko-KR" altLang="en-US" sz="1100" dirty="0"/>
              <a:t>🔍 아이콘</a:t>
            </a:r>
            <a:r>
              <a:rPr lang="en-US" altLang="ko-KR" sz="1100" dirty="0"/>
              <a:t>, Placeholder: “</a:t>
            </a:r>
            <a:r>
              <a:rPr lang="ko-KR" altLang="en-US" sz="1100" dirty="0"/>
              <a:t>여행지 또는 사용자 검색”</a:t>
            </a:r>
            <a:r>
              <a:rPr lang="en-US" altLang="ko-KR" sz="11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100" b="1" dirty="0"/>
              <a:t>우측</a:t>
            </a:r>
            <a:r>
              <a:rPr lang="en-US" altLang="ko-KR" sz="1100" b="1" dirty="0"/>
              <a:t>:</a:t>
            </a:r>
            <a:r>
              <a:rPr lang="ko-KR" altLang="en-US" sz="1100" dirty="0"/>
              <a:t> 프로필 아이콘 </a:t>
            </a:r>
            <a:r>
              <a:rPr lang="en-US" altLang="ko-KR" sz="1100" dirty="0"/>
              <a:t>(</a:t>
            </a:r>
            <a:r>
              <a:rPr lang="ko-KR" altLang="en-US" sz="1100" dirty="0"/>
              <a:t>사용자 프로필 보기</a:t>
            </a:r>
            <a:r>
              <a:rPr lang="en-US" altLang="ko-KR" sz="1100" dirty="0"/>
              <a:t>)</a:t>
            </a:r>
          </a:p>
          <a:p>
            <a:endParaRPr lang="en-US" altLang="ko-KR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카드형 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UI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구성</a:t>
            </a:r>
            <a:endParaRPr lang="en-US" altLang="ko-KR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indent="-171450">
              <a:buFontTx/>
              <a:buChar char="-"/>
            </a:pP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작성 한 </a:t>
            </a:r>
            <a:r>
              <a:rPr lang="ko-KR" altLang="en-US" sz="1000" b="1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피드가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000" b="1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카드뷰</a:t>
            </a:r>
            <a:endParaRPr lang="en-US" altLang="ko-KR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indent="-171450">
              <a:buFontTx/>
              <a:buChar char="-"/>
            </a:pP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구성 </a:t>
            </a:r>
            <a:endParaRPr lang="en-US" altLang="ko-KR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 정보 상호작용 기능</a:t>
            </a:r>
            <a:endParaRPr lang="en-US" altLang="ko-KR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사용자는 </a:t>
            </a:r>
            <a:r>
              <a:rPr lang="ko-KR" altLang="en-US" sz="1000" b="1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다른사람의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000" b="1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피드를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보고 추천 정보에서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“+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추가</a:t>
            </a:r>
            <a:r>
              <a:rPr lang="en-US" altLang="ko-KR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”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버튼 클릭 </a:t>
            </a:r>
            <a:endParaRPr lang="en-US" altLang="ko-KR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indent="-171450">
              <a:buFontTx/>
              <a:buChar char="-"/>
            </a:pPr>
            <a:r>
              <a:rPr lang="ko-KR" altLang="en-US" sz="1000" b="1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클리하면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자신의 </a:t>
            </a:r>
            <a:r>
              <a:rPr lang="ko-KR" altLang="en-US" sz="1000" b="1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피드로</a:t>
            </a:r>
            <a:r>
              <a:rPr lang="ko-KR" altLang="en-US" sz="10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복사 가능</a:t>
            </a:r>
            <a:r>
              <a:rPr lang="en-US" altLang="ko-KR" sz="1000" b="1" dirty="0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sz="1000" b="1" dirty="0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이건 추가 </a:t>
            </a:r>
            <a:r>
              <a:rPr lang="ko-KR" altLang="en-US" sz="1000" b="1" dirty="0" err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고민해야됨</a:t>
            </a:r>
            <a:r>
              <a:rPr lang="en-US" altLang="ko-KR" sz="1000" b="1" dirty="0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 lang="en-US" sz="1000" b="1" dirty="0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endParaRPr lang="en-US" sz="1000" b="1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AB2F1E4-9727-1B4B-92DA-573D61BE3F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0381414"/>
              </p:ext>
            </p:extLst>
          </p:nvPr>
        </p:nvGraphicFramePr>
        <p:xfrm>
          <a:off x="3231906" y="2676821"/>
          <a:ext cx="5984013" cy="1813560"/>
        </p:xfrm>
        <a:graphic>
          <a:graphicData uri="http://schemas.openxmlformats.org/drawingml/2006/table">
            <a:tbl>
              <a:tblPr firstRow="1" bandRow="1">
                <a:tableStyleId>{6EDC6BCF-486F-47D3-B478-F70685DA3715}</a:tableStyleId>
              </a:tblPr>
              <a:tblGrid>
                <a:gridCol w="1956543">
                  <a:extLst>
                    <a:ext uri="{9D8B030D-6E8A-4147-A177-3AD203B41FA5}">
                      <a16:colId xmlns:a16="http://schemas.microsoft.com/office/drawing/2014/main" val="3824550534"/>
                    </a:ext>
                  </a:extLst>
                </a:gridCol>
                <a:gridCol w="4027470">
                  <a:extLst>
                    <a:ext uri="{9D8B030D-6E8A-4147-A177-3AD203B41FA5}">
                      <a16:colId xmlns:a16="http://schemas.microsoft.com/office/drawing/2014/main" val="3256906223"/>
                    </a:ext>
                  </a:extLst>
                </a:gridCol>
              </a:tblGrid>
              <a:tr h="1336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구성 요소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551103"/>
                  </a:ext>
                </a:extLst>
              </a:tr>
              <a:tr h="1336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프로필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작성자 프로필 사진 </a:t>
                      </a:r>
                      <a:r>
                        <a:rPr lang="en-US" altLang="ko-KR" sz="1100" dirty="0"/>
                        <a:t>+ </a:t>
                      </a:r>
                      <a:r>
                        <a:rPr lang="ko-KR" altLang="en-US" sz="1100" dirty="0"/>
                        <a:t>닉네임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7022362"/>
                  </a:ext>
                </a:extLst>
              </a:tr>
              <a:tr h="1336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제목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사용자가 작성한 제목 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예</a:t>
                      </a:r>
                      <a:r>
                        <a:rPr lang="en-US" altLang="ko-KR" sz="1100" dirty="0"/>
                        <a:t>:”</a:t>
                      </a:r>
                      <a:r>
                        <a:rPr lang="ko-KR" altLang="en-US" sz="1100" dirty="0"/>
                        <a:t>파리 여행 계획</a:t>
                      </a:r>
                      <a:r>
                        <a:rPr lang="en-US" altLang="ko-KR" sz="1100" dirty="0"/>
                        <a:t>“)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3371554"/>
                  </a:ext>
                </a:extLst>
              </a:tr>
              <a:tr h="1336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본문 미리보기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사용자가 작성한 내용의 일부 텍스트 표시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8293284"/>
                  </a:ext>
                </a:extLst>
              </a:tr>
              <a:tr h="1336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추가 정보 미리보기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사용자가 추가한 정보들 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경로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맛집 등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016166"/>
                  </a:ext>
                </a:extLst>
              </a:tr>
              <a:tr h="1336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좋아요 </a:t>
                      </a:r>
                      <a:r>
                        <a:rPr lang="en-US" altLang="ko-KR" sz="1100" dirty="0"/>
                        <a:t>&amp; </a:t>
                      </a:r>
                      <a:r>
                        <a:rPr lang="ko-KR" altLang="en-US" sz="1100" dirty="0"/>
                        <a:t>댓글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좋아요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 err="1"/>
                        <a:t>로컬좋아요</a:t>
                      </a:r>
                      <a:r>
                        <a:rPr lang="en-US" altLang="ko-KR" sz="1100" dirty="0"/>
                        <a:t>,</a:t>
                      </a:r>
                      <a:r>
                        <a:rPr lang="ko-KR" altLang="en-US" sz="1100" dirty="0"/>
                        <a:t> 댓글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 err="1"/>
                        <a:t>로컬댓글</a:t>
                      </a:r>
                      <a:r>
                        <a:rPr lang="ko-KR" altLang="en-US" sz="1100" dirty="0"/>
                        <a:t> 구분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378641"/>
                  </a:ext>
                </a:extLst>
              </a:tr>
              <a:tr h="1336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/>
                        <a:t>더보기</a:t>
                      </a:r>
                      <a:r>
                        <a:rPr lang="ko-KR" altLang="en-US" sz="1100" dirty="0"/>
                        <a:t> 버튼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자세히 보기 버튼으로 전체 </a:t>
                      </a:r>
                      <a:r>
                        <a:rPr lang="ko-KR" altLang="en-US" sz="1100" dirty="0" err="1"/>
                        <a:t>피드</a:t>
                      </a:r>
                      <a:r>
                        <a:rPr lang="ko-KR" altLang="en-US" sz="1100" dirty="0"/>
                        <a:t> 보기 가능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570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5171774"/>
      </p:ext>
    </p:extLst>
  </p:cSld>
  <p:clrMapOvr>
    <a:masterClrMapping/>
  </p:clrMapOvr>
</p:sld>
</file>

<file path=ppt/theme/theme1.xml><?xml version="1.0" encoding="utf-8"?>
<a:theme xmlns:a="http://schemas.openxmlformats.org/drawingml/2006/main" name="PwC">
  <a:themeElements>
    <a:clrScheme name="PwC Colors">
      <a:dk1>
        <a:srgbClr val="000000"/>
      </a:dk1>
      <a:lt1>
        <a:srgbClr val="FFFFFF"/>
      </a:lt1>
      <a:dk2>
        <a:srgbClr val="7D7D7D"/>
      </a:dk2>
      <a:lt2>
        <a:srgbClr val="DEDEDE"/>
      </a:lt2>
      <a:accent1>
        <a:srgbClr val="D04A02"/>
      </a:accent1>
      <a:accent2>
        <a:srgbClr val="FFB600"/>
      </a:accent2>
      <a:accent3>
        <a:srgbClr val="E0301E"/>
      </a:accent3>
      <a:accent4>
        <a:srgbClr val="EB8C00"/>
      </a:accent4>
      <a:accent5>
        <a:srgbClr val="DB536A"/>
      </a:accent5>
      <a:accent6>
        <a:srgbClr val="464646"/>
      </a:accent6>
      <a:hlink>
        <a:srgbClr val="D04A02"/>
      </a:hlink>
      <a:folHlink>
        <a:srgbClr val="DB536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wC">
  <a:themeElements>
    <a:clrScheme name="PwC Colors">
      <a:dk1>
        <a:srgbClr val="000000"/>
      </a:dk1>
      <a:lt1>
        <a:srgbClr val="FFFFFF"/>
      </a:lt1>
      <a:dk2>
        <a:srgbClr val="7D7D7D"/>
      </a:dk2>
      <a:lt2>
        <a:srgbClr val="DEDEDE"/>
      </a:lt2>
      <a:accent1>
        <a:srgbClr val="D04A02"/>
      </a:accent1>
      <a:accent2>
        <a:srgbClr val="FFB600"/>
      </a:accent2>
      <a:accent3>
        <a:srgbClr val="E0301E"/>
      </a:accent3>
      <a:accent4>
        <a:srgbClr val="EB8C00"/>
      </a:accent4>
      <a:accent5>
        <a:srgbClr val="DB536A"/>
      </a:accent5>
      <a:accent6>
        <a:srgbClr val="464646"/>
      </a:accent6>
      <a:hlink>
        <a:srgbClr val="D04A02"/>
      </a:hlink>
      <a:folHlink>
        <a:srgbClr val="DB536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25149</TotalTime>
  <Words>1583</Words>
  <Application>Microsoft Office PowerPoint</Application>
  <PresentationFormat>A4 용지(210x297mm)</PresentationFormat>
  <Paragraphs>249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Malgun Gothic</vt:lpstr>
      <vt:lpstr>Malgun Gothic Semilight</vt:lpstr>
      <vt:lpstr>Arial</vt:lpstr>
      <vt:lpstr>Georgia</vt:lpstr>
      <vt:lpstr>Wingdings</vt:lpstr>
      <vt:lpstr>PwC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PwC</dc:creator>
  <cp:lastModifiedBy>Woo Seub Jung</cp:lastModifiedBy>
  <cp:revision>12</cp:revision>
  <dcterms:created xsi:type="dcterms:W3CDTF">2019-02-14T05:25:20Z</dcterms:created>
  <dcterms:modified xsi:type="dcterms:W3CDTF">2025-12-09T13:08:53Z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B template type">
    <vt:lpwstr>PwC4x3</vt:lpwstr>
  </property>
  <property fmtid="{D5CDD505-2E9C-101B-9397-08002B2CF9AE}" pid="3" name="TB template version">
    <vt:lpwstr>6</vt:lpwstr>
  </property>
  <property fmtid="{D5CDD505-2E9C-101B-9397-08002B2CF9AE}" pid="4" name="TB template release">
    <vt:lpwstr>4</vt:lpwstr>
  </property>
</Properties>
</file>